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7" r:id="rId2"/>
    <p:sldId id="464" r:id="rId3"/>
    <p:sldId id="486" r:id="rId4"/>
    <p:sldId id="506" r:id="rId5"/>
    <p:sldId id="487" r:id="rId6"/>
    <p:sldId id="488" r:id="rId7"/>
    <p:sldId id="489" r:id="rId8"/>
    <p:sldId id="490" r:id="rId9"/>
    <p:sldId id="491" r:id="rId10"/>
    <p:sldId id="492" r:id="rId11"/>
    <p:sldId id="493" r:id="rId12"/>
    <p:sldId id="496" r:id="rId13"/>
    <p:sldId id="494" r:id="rId14"/>
    <p:sldId id="495" r:id="rId15"/>
    <p:sldId id="507" r:id="rId16"/>
    <p:sldId id="497" r:id="rId17"/>
    <p:sldId id="498" r:id="rId18"/>
    <p:sldId id="503" r:id="rId19"/>
    <p:sldId id="504" r:id="rId20"/>
    <p:sldId id="502" r:id="rId21"/>
    <p:sldId id="501" r:id="rId22"/>
    <p:sldId id="499" r:id="rId23"/>
    <p:sldId id="500" r:id="rId24"/>
    <p:sldId id="508" r:id="rId25"/>
    <p:sldId id="505" r:id="rId26"/>
    <p:sldId id="509" r:id="rId27"/>
    <p:sldId id="510" r:id="rId28"/>
    <p:sldId id="512" r:id="rId29"/>
    <p:sldId id="514" r:id="rId30"/>
    <p:sldId id="517" r:id="rId31"/>
    <p:sldId id="521" r:id="rId32"/>
    <p:sldId id="518" r:id="rId33"/>
    <p:sldId id="519" r:id="rId34"/>
    <p:sldId id="523" r:id="rId35"/>
    <p:sldId id="524" r:id="rId36"/>
    <p:sldId id="526" r:id="rId37"/>
    <p:sldId id="525" r:id="rId38"/>
    <p:sldId id="527" r:id="rId39"/>
    <p:sldId id="528" r:id="rId40"/>
    <p:sldId id="522" r:id="rId41"/>
    <p:sldId id="529" r:id="rId42"/>
    <p:sldId id="420" r:id="rId4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5" autoAdjust="0"/>
  </p:normalViewPr>
  <p:slideViewPr>
    <p:cSldViewPr snapToGrid="0">
      <p:cViewPr varScale="1">
        <p:scale>
          <a:sx n="61" d="100"/>
          <a:sy n="61" d="100"/>
        </p:scale>
        <p:origin x="98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square" lIns="78903" tIns="39452" rIns="78903" bIns="39452" anchorCtr="0" compatLnSpc="0">
            <a:noAutofit/>
          </a:bodyPr>
          <a:lstStyle/>
          <a:p>
            <a:pPr hangingPunct="0">
              <a:defRPr sz="1400"/>
            </a:pPr>
            <a:endParaRPr lang="ru-RU" sz="120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square" lIns="78903" tIns="39452" rIns="78903" bIns="39452" anchorCtr="0" compatLnSpc="0">
            <a:noAutofit/>
          </a:bodyPr>
          <a:lstStyle/>
          <a:p>
            <a:pPr algn="r" hangingPunct="0">
              <a:defRPr sz="1400"/>
            </a:pPr>
            <a:endParaRPr lang="ru-RU" sz="120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square" lIns="78903" tIns="39452" rIns="78903" bIns="39452" anchor="b" anchorCtr="0" compatLnSpc="0">
            <a:noAutofit/>
          </a:bodyPr>
          <a:lstStyle/>
          <a:p>
            <a:pPr hangingPunct="0">
              <a:defRPr sz="1400"/>
            </a:pPr>
            <a:endParaRPr lang="ru-RU" sz="120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3881795" y="8686952"/>
            <a:ext cx="2976173" cy="456900"/>
          </a:xfrm>
          <a:prstGeom prst="rect">
            <a:avLst/>
          </a:prstGeom>
          <a:noFill/>
          <a:ln>
            <a:noFill/>
          </a:ln>
        </p:spPr>
        <p:txBody>
          <a:bodyPr vert="horz" wrap="square" lIns="78903" tIns="39452" rIns="78903" bIns="39452" anchor="b" anchorCtr="0" compatLnSpc="0">
            <a:noAutofit/>
          </a:bodyPr>
          <a:lstStyle/>
          <a:p>
            <a:pPr algn="r" hangingPunct="0">
              <a:defRPr sz="1400"/>
            </a:pPr>
            <a:fld id="{EE096CFA-33D8-483A-9E95-C8C7DD5E11C9}" type="slidenum">
              <a:t>‹#›</a:t>
            </a:fld>
            <a:endParaRPr lang="ru-RU" sz="120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60438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44F22259-6F62-41C4-B484-F73EEAC9174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7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ru-RU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831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5954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809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4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4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0226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5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5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238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6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6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306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7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7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6125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8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8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669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9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9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722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10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10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5709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11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11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54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12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12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485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13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13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255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14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14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4972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15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15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8780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16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16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9974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17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17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697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18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18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195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19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19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1332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20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20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0301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21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21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796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22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22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7194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23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23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241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24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24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41275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25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25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138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26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26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5387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27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27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609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28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28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1121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29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29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8514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30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30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6312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31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31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2926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32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32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23084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33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33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03582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34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34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0100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35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35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02599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36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36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99211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37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37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4005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38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38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81953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39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39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6744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40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40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35059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41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41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0115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"/>
          <p:cNvSpPr txBox="1">
            <a:spLocks noGrp="1"/>
          </p:cNvSpPr>
          <p:nvPr>
            <p:ph type="sldNum" sz="quarter" idx="8"/>
          </p:nvPr>
        </p:nvSpPr>
        <p:spPr>
          <a:xfrm>
            <a:off x="3884759" y="8685360"/>
            <a:ext cx="2971440" cy="458279"/>
          </a:xfrm>
        </p:spPr>
        <p:txBody>
          <a:bodyPr wrap="square" lIns="91440" tIns="45720" rIns="91440" bIns="45720"/>
          <a:lstStyle/>
          <a:p>
            <a:pPr lvl="0"/>
            <a:fld id="{BAE50645-988E-4E8F-BE19-F0562742B82D}" type="slidenum">
              <a:t>42</a:t>
            </a:fld>
            <a:endParaRPr lang="ru-RU" sz="1200">
              <a:highlight>
                <a:scrgbClr r="0" g="0" b="0">
                  <a:alpha val="0"/>
                </a:scrgbClr>
              </a:highlight>
            </a:endParaRPr>
          </a:p>
        </p:txBody>
      </p:sp>
      <p:sp>
        <p:nvSpPr>
          <p:cNvPr id="8" name="Номер слайда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B71BBB-7BD1-49A9-B3B8-64C734871174}" type="slidenum">
              <a:t>42</a:t>
            </a:fld>
            <a:endParaRPr lang="ru-RU"/>
          </a:p>
        </p:txBody>
      </p:sp>
      <p:sp>
        <p:nvSpPr>
          <p:cNvPr id="2" name="Образ слайда 2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1"/>
          <p:cNvSpPr txBox="1">
            <a:spLocks noGrp="1"/>
          </p:cNvSpPr>
          <p:nvPr>
            <p:ph type="body" sz="quarter" idx="1"/>
          </p:nvPr>
        </p:nvSpPr>
        <p:spPr>
          <a:xfrm>
            <a:off x="685799" y="4400639"/>
            <a:ext cx="5486040" cy="36000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lvl="0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2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DCA1190-863F-46BD-84BC-0CBDF71D27C3}" type="datetime1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B925C68-9DA0-4913-B257-3DA7ECF4CD7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63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E692758-953A-440B-BF8A-3EA282AAD1A9}" type="datetime1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0412FF-5B05-44E7-9DCA-4581DAE3FB4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33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8A175AC-34AE-46E0-8E38-F4A92831C5E1}" type="datetime1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134221-ACEE-47DB-8E3B-AEF2130DF6A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58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4964"/>
            <a:ext cx="5384800" cy="39766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4964"/>
            <a:ext cx="5384800" cy="39766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78BD36A-0805-4736-B961-D22E1CC4F7C9}" type="datetime1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14BB84-4A8F-4133-ABC2-8CB680E46C3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25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D6F49DC-1AC5-4936-A655-09848063BC73}" type="datetime1">
              <a:rPr lang="ru-RU" smtClean="0"/>
              <a:t>09.03.2026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AE568E-7686-4EE9-A887-847F1DF3356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82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84747A4-171D-4B87-BE21-6217ECB8BF77}" type="datetime1">
              <a:rPr lang="ru-RU" smtClean="0"/>
              <a:t>09.03.2026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67FD3F-D0E8-4DA1-A7EE-BF33EE9E6DE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D1E9FB2-CE73-4E76-B223-899773582EA1}" type="datetime1">
              <a:rPr lang="ru-RU" smtClean="0"/>
              <a:t>09.03.2026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E7E408-B619-43D0-A8C7-FE57EC6489A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22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86E6529-8489-4FBE-B72D-0461FBE2C889}" type="datetime1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1A5E17C-26DD-4113-895C-DFDB57E78EA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512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2D3A134-8322-4AC3-BB3A-8FBA1C3F67FC}" type="datetime1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A05034-D836-47B3-9552-1E96B7EB023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FA60A33-8E8A-4AFD-9FB8-DF67B3CFDEE1}" type="datetime1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CE05B4C-9B25-4F7F-BD84-EED453B2E66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03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1122364"/>
            <a:ext cx="2743200" cy="44592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1122364"/>
            <a:ext cx="8026400" cy="44592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C69DCE9-AF84-4D2C-A2FB-DAEFC5C693F8}" type="datetime1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9AA8A4-558B-4B2A-9FA2-9648B3C5C8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2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914399" y="1122480"/>
            <a:ext cx="10362719" cy="2387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noAutofit/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838081" y="6356521"/>
            <a:ext cx="2742719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defRPr>
            </a:lvl1pPr>
          </a:lstStyle>
          <a:p>
            <a:pPr lvl="0"/>
            <a:fld id="{E6B72856-9C23-4FB0-9CAC-858324E2EE7D}" type="datetime1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4038720" y="6356521"/>
            <a:ext cx="411456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rtl="0" hangingPunct="0">
              <a:buNone/>
              <a:tabLst/>
              <a:defRPr lang="ru-RU" sz="2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611202" y="6493322"/>
            <a:ext cx="2742719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2600" b="1" i="0" u="none" strike="noStrike" kern="1200" cap="none" spc="0" baseline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defRPr>
            </a:lvl1pPr>
          </a:lstStyle>
          <a:p>
            <a:fld id="{0158714A-587A-4F8A-A47F-7B913E0CD6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5"/>
          <p:cNvSpPr txBox="1">
            <a:spLocks noGrp="1"/>
          </p:cNvSpPr>
          <p:nvPr>
            <p:ph type="body" idx="1"/>
          </p:nvPr>
        </p:nvSpPr>
        <p:spPr>
          <a:xfrm>
            <a:off x="609600" y="1604521"/>
            <a:ext cx="10972320" cy="397727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lvl="0" algn="ctr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6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Calibri Light" pitchFamily="34"/>
          <a:ea typeface="Microsoft YaHei" pitchFamily="2"/>
          <a:cs typeface="Lucida Sans" pitchFamily="2"/>
        </a:defRPr>
      </a:lvl1pPr>
    </p:titleStyle>
    <p:bodyStyle>
      <a:lvl1pPr marL="0" marR="0" indent="0" algn="l" rtl="0" hangingPunct="1">
        <a:lnSpc>
          <a:spcPct val="90000"/>
        </a:lnSpc>
        <a:spcBef>
          <a:spcPts val="1414"/>
        </a:spcBef>
        <a:spcAft>
          <a:spcPts val="0"/>
        </a:spcAft>
        <a:tabLst/>
        <a:defRPr lang="ru-RU" sz="2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Liberation Sans" pitchFamily="34"/>
          <a:ea typeface="Microsoft YaHe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1;p16">
            <a:extLst>
              <a:ext uri="{FF2B5EF4-FFF2-40B4-BE49-F238E27FC236}">
                <a16:creationId xmlns:a16="http://schemas.microsoft.com/office/drawing/2014/main" id="{45A40E87-AFE4-40F4-9152-214AE3A538C0}"/>
              </a:ext>
            </a:extLst>
          </p:cNvPr>
          <p:cNvSpPr txBox="1"/>
          <p:nvPr/>
        </p:nvSpPr>
        <p:spPr>
          <a:xfrm>
            <a:off x="730196" y="5671000"/>
            <a:ext cx="4333083" cy="724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>
                <a:solidFill>
                  <a:srgbClr val="2B373C"/>
                </a:solidFill>
                <a:latin typeface="Rubik Medium"/>
                <a:ea typeface="Rubik Medium"/>
                <a:cs typeface="Rubik Medium"/>
                <a:sym typeface="Rubik Medium"/>
              </a:rPr>
              <a:t>Запорожцев Иван Федорович</a:t>
            </a:r>
          </a:p>
          <a:p>
            <a:r>
              <a:rPr lang="en-US" dirty="0">
                <a:solidFill>
                  <a:srgbClr val="2B373C"/>
                </a:solidFill>
                <a:latin typeface="Rubik Medium"/>
                <a:ea typeface="Rubik Medium"/>
                <a:cs typeface="Rubik Medium"/>
                <a:sym typeface="Rubik Medium"/>
              </a:rPr>
              <a:t>zaporozhtsev.if.work@gmail.com</a:t>
            </a:r>
            <a:endParaRPr dirty="0">
              <a:solidFill>
                <a:srgbClr val="2B373C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5" name="Подзаголовок 1">
            <a:extLst>
              <a:ext uri="{FF2B5EF4-FFF2-40B4-BE49-F238E27FC236}">
                <a16:creationId xmlns:a16="http://schemas.microsoft.com/office/drawing/2014/main" id="{AD2CD3F1-2C89-4A81-BBBB-8738243224D8}"/>
              </a:ext>
            </a:extLst>
          </p:cNvPr>
          <p:cNvSpPr txBox="1">
            <a:spLocks/>
          </p:cNvSpPr>
          <p:nvPr/>
        </p:nvSpPr>
        <p:spPr>
          <a:xfrm>
            <a:off x="1838460" y="1591326"/>
            <a:ext cx="8515080" cy="137581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rmAutofit/>
          </a:bodyPr>
          <a:lstStyle>
            <a:lvl1pPr marL="0" marR="0" indent="0" algn="l" rtl="0" hangingPunct="1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tabLst/>
              <a:defRPr lang="ru-RU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Microsoft YaHe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hangingPunct="0"/>
            <a:r>
              <a:rPr lang="ru-RU" sz="3200" b="1" dirty="0">
                <a:latin typeface="Liberation Sans" pitchFamily="18"/>
              </a:rPr>
              <a:t>Методы оптимизации</a:t>
            </a:r>
          </a:p>
          <a:p>
            <a:pPr algn="ctr" hangingPunct="0"/>
            <a:r>
              <a:rPr lang="ru-RU" sz="3200" b="1" dirty="0">
                <a:latin typeface="Liberation Sans" pitchFamily="18"/>
              </a:rPr>
              <a:t>ИТМО, 2 курс, 4 семестр </a:t>
            </a:r>
          </a:p>
        </p:txBody>
      </p:sp>
      <p:sp>
        <p:nvSpPr>
          <p:cNvPr id="4" name="Google Shape;77;p16">
            <a:extLst>
              <a:ext uri="{FF2B5EF4-FFF2-40B4-BE49-F238E27FC236}">
                <a16:creationId xmlns:a16="http://schemas.microsoft.com/office/drawing/2014/main" id="{AC455390-BD2C-4A2B-A49B-D900DEAB36DD}"/>
              </a:ext>
            </a:extLst>
          </p:cNvPr>
          <p:cNvSpPr txBox="1">
            <a:spLocks/>
          </p:cNvSpPr>
          <p:nvPr/>
        </p:nvSpPr>
        <p:spPr>
          <a:xfrm>
            <a:off x="378902" y="3348418"/>
            <a:ext cx="11434195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Лабораторная работа №5 </a:t>
            </a: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табличных данных: задачи оптимизации </a:t>
            </a: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и машинного обучения.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84150" y="484264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функции двух переменных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295A5D-72A0-4AF3-81D7-45E26BD0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36" y="1752399"/>
            <a:ext cx="4796388" cy="43705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B5E213-FBA6-4166-AFA4-1C91A9C37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82" y="1118332"/>
            <a:ext cx="6063048" cy="6471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6D36D2-E1E2-4D13-8AE0-2A45BDE5E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950" y="2017986"/>
            <a:ext cx="2270504" cy="410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2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61583" y="533631"/>
            <a:ext cx="974748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Гипотезы о свойствах функции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CEAF2-D9B6-47AE-8F7A-1152AC1D9456}"/>
              </a:ext>
            </a:extLst>
          </p:cNvPr>
          <p:cNvSpPr txBox="1"/>
          <p:nvPr/>
        </p:nvSpPr>
        <p:spPr>
          <a:xfrm>
            <a:off x="6476345" y="1765432"/>
            <a:ext cx="54605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Эллиптический параболоид?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Двумерная </a:t>
            </a:r>
            <a:r>
              <a:rPr lang="ru-RU" sz="2400" dirty="0" err="1"/>
              <a:t>гауссиана</a:t>
            </a:r>
            <a:r>
              <a:rPr lang="ru-RU" sz="24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…?</a:t>
            </a:r>
          </a:p>
          <a:p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CC7416-90EB-48BD-B520-9089399AA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82" y="1118332"/>
            <a:ext cx="6063048" cy="6471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89DD9A6-B98D-4011-AC73-E99CEEA27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345" y="3152753"/>
            <a:ext cx="1847713" cy="33405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A0AD0D4-0ACF-4241-B681-04488D204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83" y="1874391"/>
            <a:ext cx="4654073" cy="456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8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4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84150" y="484264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функции двух переменных</a:t>
            </a: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Часть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 Эллиптический параболоид</a:t>
            </a:r>
          </a:p>
        </p:txBody>
      </p:sp>
    </p:spTree>
    <p:extLst>
      <p:ext uri="{BB962C8B-B14F-4D97-AF65-F5344CB8AC3E}">
        <p14:creationId xmlns:p14="http://schemas.microsoft.com/office/powerpoint/2010/main" val="108188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5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CEAF2-D9B6-47AE-8F7A-1152AC1D9456}"/>
              </a:ext>
            </a:extLst>
          </p:cNvPr>
          <p:cNvSpPr txBox="1"/>
          <p:nvPr/>
        </p:nvSpPr>
        <p:spPr>
          <a:xfrm>
            <a:off x="736589" y="1644736"/>
            <a:ext cx="103663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эллиптический параболоид?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выглядит оптимизационная задача?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соотносится количество параметров модели (степеней свободы) с количеством объектов?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Каким методом решать оптимизационную задачу?</a:t>
            </a:r>
          </a:p>
          <a:p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6FF948-CED0-440F-968D-DBD22D6CE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9" y="3665936"/>
            <a:ext cx="9078763" cy="282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3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105DC8F-4219-44A2-983A-2F922910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015" y="2687216"/>
            <a:ext cx="3009658" cy="224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6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CE89C3-FCE5-447D-B705-B6119BBD4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22" y="2079067"/>
            <a:ext cx="8440706" cy="4069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45F6DF-C1E4-4E1C-B3B9-2CE07AA720F6}"/>
              </a:ext>
            </a:extLst>
          </p:cNvPr>
          <p:cNvSpPr txBox="1"/>
          <p:nvPr/>
        </p:nvSpPr>
        <p:spPr>
          <a:xfrm>
            <a:off x="839754" y="152834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эллиптический параболоид?</a:t>
            </a:r>
          </a:p>
        </p:txBody>
      </p:sp>
    </p:spTree>
    <p:extLst>
      <p:ext uri="{BB962C8B-B14F-4D97-AF65-F5344CB8AC3E}">
        <p14:creationId xmlns:p14="http://schemas.microsoft.com/office/powerpoint/2010/main" val="2949257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7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1098876" y="2163385"/>
            <a:ext cx="1025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случае неканонической системы координат удобно переписать в виде: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401AF-10B5-41CC-9097-57A3233E99FC}"/>
              </a:ext>
            </a:extLst>
          </p:cNvPr>
          <p:cNvSpPr txBox="1"/>
          <p:nvPr/>
        </p:nvSpPr>
        <p:spPr>
          <a:xfrm>
            <a:off x="1098875" y="3358856"/>
            <a:ext cx="1034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Параметры модели далее будут иметь больший приоритет для анализа, чем исходные переменные (признаки предметной области), потому перепишем: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EEDA1-6150-4FAC-AACD-50BADC883982}"/>
              </a:ext>
            </a:extLst>
          </p:cNvPr>
          <p:cNvSpPr txBox="1"/>
          <p:nvPr/>
        </p:nvSpPr>
        <p:spPr>
          <a:xfrm>
            <a:off x="839754" y="152834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эллиптический параболоид?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43FC8C4-7B4F-4042-9A14-85767C94C0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945"/>
          <a:stretch/>
        </p:blipFill>
        <p:spPr>
          <a:xfrm>
            <a:off x="1231238" y="4353484"/>
            <a:ext cx="7306695" cy="41847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D6B31E-39F8-4941-ACD7-B4299648B6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75" b="54709"/>
          <a:stretch/>
        </p:blipFill>
        <p:spPr>
          <a:xfrm>
            <a:off x="1231238" y="2764228"/>
            <a:ext cx="6979702" cy="46166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B541ADC-CFD6-4FD3-BFD0-F08068B5F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785" y="4852451"/>
            <a:ext cx="641122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6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8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1108562" y="2044005"/>
            <a:ext cx="1025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Имеем задачу регрессии, можно использовать в качестве </a:t>
            </a:r>
            <a:r>
              <a:rPr lang="en-US" sz="2400" dirty="0"/>
              <a:t>Loss-</a:t>
            </a:r>
            <a:r>
              <a:rPr lang="ru-RU" sz="2400" dirty="0"/>
              <a:t>функции </a:t>
            </a:r>
            <a:r>
              <a:rPr lang="en-US" sz="2400" dirty="0"/>
              <a:t>MSE</a:t>
            </a:r>
            <a:r>
              <a:rPr lang="ru-RU" sz="24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839754" y="152834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2. Постановка задачи оптимизации.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DBAAE-4A17-40CF-A20E-1C82ABA13876}"/>
              </a:ext>
            </a:extLst>
          </p:cNvPr>
          <p:cNvSpPr txBox="1"/>
          <p:nvPr/>
        </p:nvSpPr>
        <p:spPr>
          <a:xfrm>
            <a:off x="1070615" y="5410287"/>
            <a:ext cx="9510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Область возможных решений можно задать </a:t>
            </a:r>
            <a:r>
              <a:rPr lang="ru-RU" sz="2400" dirty="0" err="1"/>
              <a:t>гиперпараллелепипедом</a:t>
            </a:r>
            <a:r>
              <a:rPr lang="ru-RU" sz="2400" dirty="0"/>
              <a:t>, дополнительное неравенство же порождает ограничение этой области - относительно конуса, который связывает </a:t>
            </a:r>
            <a:r>
              <a:rPr lang="en-US" sz="2400" i="1" dirty="0" err="1"/>
              <a:t>a,b,c</a:t>
            </a:r>
            <a:r>
              <a:rPr lang="ru-RU" sz="2400" dirty="0"/>
              <a:t>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E6598A9-D4E9-4431-880E-F2BF561AE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020" y="2657634"/>
            <a:ext cx="9221487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2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18EFE9-BA7C-410D-B6BF-25B8A41274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727"/>
          <a:stretch/>
        </p:blipFill>
        <p:spPr>
          <a:xfrm>
            <a:off x="2466346" y="2232253"/>
            <a:ext cx="8198544" cy="1347379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9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736589" y="3542789"/>
            <a:ext cx="107680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Имеем 5 объектов («уравнений») и 6 параметров модели («неизвестных») – данных меньше, чем условий, обычно в таком случае ожидается большое количество потенциально подходящих моделей («бесконечно много»).</a:t>
            </a:r>
          </a:p>
          <a:p>
            <a:endParaRPr lang="ru-RU" sz="2400" dirty="0"/>
          </a:p>
          <a:p>
            <a:r>
              <a:rPr lang="ru-RU" sz="2400" dirty="0"/>
              <a:t>Однако есть ещё неравенство: тогда 6 ограничений и 6 параметров модели.</a:t>
            </a:r>
          </a:p>
          <a:p>
            <a:r>
              <a:rPr lang="ru-RU" sz="2400" dirty="0"/>
              <a:t>На практике, с зашумленными данными: лучше обобщающая способность, если ограничений больше, чем параметров (ни для одного объекта не будет точного воспроизведения значения целевого признака)  =</a:t>
            </a:r>
            <a:r>
              <a:rPr lang="en-US" sz="2400" dirty="0"/>
              <a:t>&gt; </a:t>
            </a:r>
            <a:r>
              <a:rPr lang="ru-RU" sz="2400" dirty="0"/>
              <a:t>«надо больше данных!»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9" y="1815863"/>
            <a:ext cx="10255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3. Как соотносится количество параметров модели (степеней свободы) с количеством объектов?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3950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10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1072492" y="2277528"/>
            <a:ext cx="107680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Популярным методом на практике является L-BFGS-B — </a:t>
            </a:r>
            <a:r>
              <a:rPr lang="ru-RU" sz="2400" dirty="0" err="1"/>
              <a:t>квазиньютоновский</a:t>
            </a:r>
            <a:r>
              <a:rPr lang="ru-RU" sz="2400" dirty="0"/>
              <a:t> метод (матрица Гессе будет аппроксимирована матрицей на основе численных приближений для первых производных). </a:t>
            </a:r>
          </a:p>
          <a:p>
            <a:r>
              <a:rPr lang="ru-RU" sz="2400" dirty="0"/>
              <a:t>Название – модифицированный вариант алгоритма </a:t>
            </a:r>
            <a:r>
              <a:rPr lang="ru-RU" sz="2400" b="1" i="0" u="sng" dirty="0" err="1">
                <a:effectLst/>
                <a:latin typeface="YS Text"/>
              </a:rPr>
              <a:t>Б</a:t>
            </a:r>
            <a:r>
              <a:rPr lang="ru-RU" sz="2400" b="0" i="0" dirty="0" err="1">
                <a:effectLst/>
                <a:latin typeface="YS Text"/>
              </a:rPr>
              <a:t>ройдена</a:t>
            </a:r>
            <a:r>
              <a:rPr lang="ru-RU" sz="2400" b="0" i="0" dirty="0">
                <a:effectLst/>
                <a:latin typeface="YS Text"/>
              </a:rPr>
              <a:t>- </a:t>
            </a:r>
            <a:r>
              <a:rPr lang="ru-RU" sz="2400" b="1" i="0" u="sng" dirty="0">
                <a:effectLst/>
                <a:latin typeface="YS Text"/>
              </a:rPr>
              <a:t>Ф</a:t>
            </a:r>
            <a:r>
              <a:rPr lang="ru-RU" sz="2400" b="0" i="0" dirty="0">
                <a:effectLst/>
                <a:latin typeface="YS Text"/>
              </a:rPr>
              <a:t>летчера-</a:t>
            </a:r>
            <a:r>
              <a:rPr lang="ru-RU" sz="2400" b="1" i="0" u="sng" dirty="0">
                <a:effectLst/>
                <a:latin typeface="YS Text"/>
              </a:rPr>
              <a:t>Г</a:t>
            </a:r>
            <a:r>
              <a:rPr lang="ru-RU" sz="2400" b="0" i="0" dirty="0">
                <a:effectLst/>
                <a:latin typeface="YS Text"/>
              </a:rPr>
              <a:t>ольдфарба-</a:t>
            </a:r>
            <a:r>
              <a:rPr lang="ru-RU" sz="2400" b="1" i="0" u="sng" dirty="0" err="1">
                <a:effectLst/>
                <a:latin typeface="YS Text"/>
              </a:rPr>
              <a:t>Ш</a:t>
            </a:r>
            <a:r>
              <a:rPr lang="ru-RU" sz="2400" b="0" i="0" dirty="0" err="1">
                <a:effectLst/>
                <a:latin typeface="YS Text"/>
              </a:rPr>
              <a:t>анно</a:t>
            </a:r>
            <a:r>
              <a:rPr lang="ru-RU" sz="2400" b="0" i="0" dirty="0">
                <a:effectLst/>
                <a:latin typeface="YS Text"/>
              </a:rPr>
              <a:t>.</a:t>
            </a:r>
          </a:p>
          <a:p>
            <a:endParaRPr lang="ru-RU" sz="2400" dirty="0">
              <a:latin typeface="YS Text"/>
            </a:endParaRPr>
          </a:p>
          <a:p>
            <a:r>
              <a:rPr lang="ru-RU" sz="2400" dirty="0">
                <a:latin typeface="YS Text"/>
              </a:rPr>
              <a:t>Вопрос: границы применимости метода?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9" y="1815863"/>
            <a:ext cx="10255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4. Каким методом решать оптимизационную задачу?</a:t>
            </a:r>
          </a:p>
        </p:txBody>
      </p:sp>
    </p:spTree>
    <p:extLst>
      <p:ext uri="{BB962C8B-B14F-4D97-AF65-F5344CB8AC3E}">
        <p14:creationId xmlns:p14="http://schemas.microsoft.com/office/powerpoint/2010/main" val="997543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11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9" y="1554044"/>
            <a:ext cx="10255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4. Каким методом решать оптимизационную задачу?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478E-5C8B-44AE-8CA5-3446B1D599E1}"/>
              </a:ext>
            </a:extLst>
          </p:cNvPr>
          <p:cNvSpPr txBox="1"/>
          <p:nvPr/>
        </p:nvSpPr>
        <p:spPr>
          <a:xfrm>
            <a:off x="6235795" y="3075995"/>
            <a:ext cx="5748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Начальное приближение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E98E6-2601-4CF1-87DD-501F51A6A044}"/>
              </a:ext>
            </a:extLst>
          </p:cNvPr>
          <p:cNvSpPr txBox="1"/>
          <p:nvPr/>
        </p:nvSpPr>
        <p:spPr>
          <a:xfrm>
            <a:off x="6235795" y="3516165"/>
            <a:ext cx="54997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Границы </a:t>
            </a:r>
            <a:r>
              <a:rPr lang="ru-RU" sz="2200" dirty="0" err="1"/>
              <a:t>гиперпараллелепипеда</a:t>
            </a:r>
            <a:r>
              <a:rPr lang="ru-RU" sz="2200" dirty="0"/>
              <a:t> возможных решений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00BCF-BC21-4E71-A210-9742425106C2}"/>
              </a:ext>
            </a:extLst>
          </p:cNvPr>
          <p:cNvSpPr txBox="1"/>
          <p:nvPr/>
        </p:nvSpPr>
        <p:spPr>
          <a:xfrm>
            <a:off x="6244461" y="4317773"/>
            <a:ext cx="55814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Наибольшее количество итераций (как простой или вспомогательный критерий останова)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612552" y="5353666"/>
            <a:ext cx="112133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Callback – </a:t>
            </a:r>
            <a:r>
              <a:rPr lang="ru-RU" sz="2200" dirty="0"/>
              <a:t>функция обратного вызова (в программировании: обработчик события по умолчанию переопределяется/дополняется какой-то логикой – здесь </a:t>
            </a:r>
            <a:r>
              <a:rPr lang="ru-RU" sz="2200" dirty="0" err="1"/>
              <a:t>логгирование</a:t>
            </a:r>
            <a:r>
              <a:rPr lang="ru-RU" sz="2200" dirty="0"/>
              <a:t> на каждой итерации). Ещё пример: какой отклик программы на нажатие левой кнопки мыши?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F42C6-F95E-4610-8CD8-8CCC7434287E}"/>
              </a:ext>
            </a:extLst>
          </p:cNvPr>
          <p:cNvSpPr txBox="1"/>
          <p:nvPr/>
        </p:nvSpPr>
        <p:spPr>
          <a:xfrm>
            <a:off x="5436430" y="2026343"/>
            <a:ext cx="67555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Если в ограничения нельзя внести неравенства, то их придётся отправить в </a:t>
            </a:r>
            <a:r>
              <a:rPr lang="en-US" sz="2200" dirty="0"/>
              <a:t>Loss (</a:t>
            </a:r>
            <a:r>
              <a:rPr lang="ru-RU" sz="2200" dirty="0"/>
              <a:t>в худшем случае она будет задаваться не аналитически, а алгоритмически</a:t>
            </a:r>
            <a:r>
              <a:rPr lang="en-US" sz="2200" dirty="0"/>
              <a:t>)</a:t>
            </a:r>
            <a:r>
              <a:rPr lang="ru-RU" sz="2200" dirty="0"/>
              <a:t>!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D26606B-CD65-4C3E-AF55-A09D20091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97" y="2372112"/>
            <a:ext cx="4388652" cy="2695700"/>
          </a:xfrm>
          <a:prstGeom prst="rect">
            <a:avLst/>
          </a:prstGeo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9FDC400-508C-49DF-A39C-22D00D0A2284}"/>
              </a:ext>
            </a:extLst>
          </p:cNvPr>
          <p:cNvCxnSpPr>
            <a:cxnSpLocks/>
          </p:cNvCxnSpPr>
          <p:nvPr/>
        </p:nvCxnSpPr>
        <p:spPr>
          <a:xfrm flipH="1" flipV="1">
            <a:off x="4173896" y="4807474"/>
            <a:ext cx="1922104" cy="2297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ABC7245-6F97-4E2B-8B00-0D1A88D6AE34}"/>
              </a:ext>
            </a:extLst>
          </p:cNvPr>
          <p:cNvCxnSpPr>
            <a:cxnSpLocks/>
          </p:cNvCxnSpPr>
          <p:nvPr/>
        </p:nvCxnSpPr>
        <p:spPr>
          <a:xfrm flipV="1">
            <a:off x="1166327" y="4425780"/>
            <a:ext cx="289249" cy="8406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F9CD35E-A345-4A6C-97EF-269854C982D0}"/>
              </a:ext>
            </a:extLst>
          </p:cNvPr>
          <p:cNvCxnSpPr>
            <a:cxnSpLocks/>
          </p:cNvCxnSpPr>
          <p:nvPr/>
        </p:nvCxnSpPr>
        <p:spPr>
          <a:xfrm flipH="1">
            <a:off x="3368351" y="3781218"/>
            <a:ext cx="2867444" cy="3678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C17AE3A-D0B7-4F08-A060-3B70259D2B6B}"/>
              </a:ext>
            </a:extLst>
          </p:cNvPr>
          <p:cNvCxnSpPr>
            <a:cxnSpLocks/>
          </p:cNvCxnSpPr>
          <p:nvPr/>
        </p:nvCxnSpPr>
        <p:spPr>
          <a:xfrm flipH="1">
            <a:off x="3508310" y="3333308"/>
            <a:ext cx="2736151" cy="1535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07757DB7-1DEE-4D0F-92E4-015C0A7C1B7A}"/>
              </a:ext>
            </a:extLst>
          </p:cNvPr>
          <p:cNvCxnSpPr>
            <a:cxnSpLocks/>
          </p:cNvCxnSpPr>
          <p:nvPr/>
        </p:nvCxnSpPr>
        <p:spPr>
          <a:xfrm flipH="1">
            <a:off x="3583522" y="2753379"/>
            <a:ext cx="1958862" cy="2878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0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12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78C8D-9E60-44B9-90A6-0FADDE6AE36F}"/>
              </a:ext>
            </a:extLst>
          </p:cNvPr>
          <p:cNvSpPr txBox="1"/>
          <p:nvPr/>
        </p:nvSpPr>
        <p:spPr>
          <a:xfrm>
            <a:off x="736588" y="3955347"/>
            <a:ext cx="1078671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Два слайда далее:</a:t>
            </a:r>
          </a:p>
          <a:p>
            <a:endParaRPr lang="ru-RU" sz="2200" dirty="0"/>
          </a:p>
          <a:p>
            <a:r>
              <a:rPr lang="ru-RU" sz="2200" dirty="0"/>
              <a:t>В общем случае полезно не только отслеживать сходимость к нулю </a:t>
            </a:r>
            <a:r>
              <a:rPr lang="en-US" sz="2200" dirty="0"/>
              <a:t>Loss </a:t>
            </a:r>
            <a:r>
              <a:rPr lang="ru-RU" sz="2200" dirty="0"/>
              <a:t>на обучении, но ещё посмотреть невязку для каждого объекта или вычислить другие метрики (критерии качества, которые не учитывались при обучении)!</a:t>
            </a:r>
          </a:p>
          <a:p>
            <a:endParaRPr lang="ru-RU" sz="2200" dirty="0"/>
          </a:p>
          <a:p>
            <a:r>
              <a:rPr lang="ru-RU" sz="2200" dirty="0"/>
              <a:t>И наконец финальная визуализация для найденной модели!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415D3D-5AE8-46F7-9077-F8009FF23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98" y="2334175"/>
            <a:ext cx="6374510" cy="16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3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13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2AC34-1284-446F-8393-D1002FC48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31" y="2503673"/>
            <a:ext cx="10378538" cy="398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02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14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Параболоид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BA7401-E7D6-4273-9A39-AA6EFF6AF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73" y="2365803"/>
            <a:ext cx="10094288" cy="41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4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15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84150" y="484264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функции двух переменных</a:t>
            </a: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Часть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II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</p:spTree>
    <p:extLst>
      <p:ext uri="{BB962C8B-B14F-4D97-AF65-F5344CB8AC3E}">
        <p14:creationId xmlns:p14="http://schemas.microsoft.com/office/powerpoint/2010/main" val="3315509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16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34B1D-CC07-4607-8043-B47215E165DC}"/>
              </a:ext>
            </a:extLst>
          </p:cNvPr>
          <p:cNvSpPr txBox="1"/>
          <p:nvPr/>
        </p:nvSpPr>
        <p:spPr>
          <a:xfrm>
            <a:off x="736589" y="1644736"/>
            <a:ext cx="103663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двумерную </a:t>
            </a:r>
            <a:r>
              <a:rPr lang="ru-RU" sz="2400" dirty="0" err="1"/>
              <a:t>гауссиану</a:t>
            </a:r>
            <a:r>
              <a:rPr lang="ru-RU" sz="24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выглядит оптимизационная задача?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соотносится количество параметров модели (степеней свободы) с количеством объектов?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Каким методом решать оптимизационную задачу?</a:t>
            </a:r>
          </a:p>
          <a:p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09333A-16BE-4C28-8A43-FB9D0B8E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15" y="3576009"/>
            <a:ext cx="7756387" cy="279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86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62F5C1-B2D6-4A51-AFE3-C79DDCE3D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847" y="2760313"/>
            <a:ext cx="2713642" cy="190408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17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34B1D-CC07-4607-8043-B47215E165DC}"/>
              </a:ext>
            </a:extLst>
          </p:cNvPr>
          <p:cNvSpPr txBox="1"/>
          <p:nvPr/>
        </p:nvSpPr>
        <p:spPr>
          <a:xfrm>
            <a:off x="736589" y="1644736"/>
            <a:ext cx="10366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двумерную </a:t>
            </a:r>
            <a:r>
              <a:rPr lang="ru-RU" sz="2400" dirty="0" err="1"/>
              <a:t>гауссиану</a:t>
            </a:r>
            <a:r>
              <a:rPr lang="ru-RU" sz="2400" dirty="0"/>
              <a:t>?</a:t>
            </a:r>
          </a:p>
          <a:p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912844" y="4686515"/>
            <a:ext cx="10822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этой модели учтен сдвиг точки максимума в области определения, поворот, </a:t>
            </a:r>
          </a:p>
          <a:p>
            <a:r>
              <a:rPr lang="ru-RU" sz="2400" dirty="0"/>
              <a:t>а также растяжение и сдвиг всей поверхности: имеем 7 параметров модели.</a:t>
            </a:r>
          </a:p>
          <a:p>
            <a:r>
              <a:rPr lang="ru-RU" sz="2400" dirty="0"/>
              <a:t>Можно сказать, что выполнено линейное преобразование (преобразование координат) «поворот и сдвиг».</a:t>
            </a:r>
          </a:p>
          <a:p>
            <a:r>
              <a:rPr lang="ru-RU" sz="2400" dirty="0"/>
              <a:t>Предложите свой вариант для области возможных значений каждого параметра.</a:t>
            </a:r>
          </a:p>
          <a:p>
            <a:endParaRPr lang="ru-RU" sz="24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0DB2F04-BEF0-4E26-A5F8-6F6B1CFF9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014" y="1466420"/>
            <a:ext cx="4256390" cy="322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BD3A305-B4EE-42A1-A7FC-2203F69D087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901"/>
          <a:stretch/>
        </p:blipFill>
        <p:spPr>
          <a:xfrm>
            <a:off x="836414" y="2267423"/>
            <a:ext cx="4715533" cy="103837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20B4C9-4B02-4D0A-8530-9D92AF075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387" y="3392622"/>
            <a:ext cx="4915586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66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18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1108562" y="2044005"/>
            <a:ext cx="1025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Имеем задачу регрессии, можно использовать в качестве </a:t>
            </a:r>
            <a:r>
              <a:rPr lang="en-US" sz="2400" dirty="0"/>
              <a:t>Loss-</a:t>
            </a:r>
            <a:r>
              <a:rPr lang="ru-RU" sz="2400" dirty="0"/>
              <a:t>функции </a:t>
            </a:r>
            <a:r>
              <a:rPr lang="en-US" sz="2400" dirty="0"/>
              <a:t>MSE</a:t>
            </a:r>
            <a:r>
              <a:rPr lang="ru-RU" sz="24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839754" y="152834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2. Постановка задачи оптимизации.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DBAAE-4A17-40CF-A20E-1C82ABA13876}"/>
              </a:ext>
            </a:extLst>
          </p:cNvPr>
          <p:cNvSpPr txBox="1"/>
          <p:nvPr/>
        </p:nvSpPr>
        <p:spPr>
          <a:xfrm>
            <a:off x="1070615" y="5410287"/>
            <a:ext cx="9510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Область возможных решений можно задать </a:t>
            </a:r>
            <a:r>
              <a:rPr lang="ru-RU" sz="2400" dirty="0" err="1"/>
              <a:t>гиперпараллелепипедом</a:t>
            </a:r>
            <a:r>
              <a:rPr lang="ru-RU" sz="2400" dirty="0"/>
              <a:t>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5FDDD9-E64F-41C2-9C0A-1DB3BAEE4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182" y="2611382"/>
            <a:ext cx="1030748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4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19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D2661-B58B-45AD-A6EB-A1B2E01255FC}"/>
              </a:ext>
            </a:extLst>
          </p:cNvPr>
          <p:cNvSpPr txBox="1"/>
          <p:nvPr/>
        </p:nvSpPr>
        <p:spPr>
          <a:xfrm>
            <a:off x="736589" y="3132242"/>
            <a:ext cx="10768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Имеем 5 объектов и </a:t>
            </a:r>
            <a:r>
              <a:rPr lang="en-US" sz="2400" dirty="0"/>
              <a:t>7</a:t>
            </a:r>
            <a:r>
              <a:rPr lang="ru-RU" sz="2400" dirty="0"/>
              <a:t> параметров модели.</a:t>
            </a:r>
          </a:p>
          <a:p>
            <a:r>
              <a:rPr lang="ru-RU" sz="2400" dirty="0"/>
              <a:t>Вспомним, что в общем случае объектов для обучения должно быть кратно больше, чем варьируемых параметров.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9" y="1815863"/>
            <a:ext cx="10255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3. Как соотносится количество параметров модели (степеней свободы) с количеством объектов?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23482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20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9" y="1554044"/>
            <a:ext cx="10255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4. Каким методом решать оптимизационную задачу?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E92D42-4ED0-4146-BB09-7C4D40D04549}"/>
              </a:ext>
            </a:extLst>
          </p:cNvPr>
          <p:cNvSpPr txBox="1"/>
          <p:nvPr/>
        </p:nvSpPr>
        <p:spPr>
          <a:xfrm>
            <a:off x="1016507" y="2157080"/>
            <a:ext cx="97883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Вновь используем метод </a:t>
            </a:r>
            <a:r>
              <a:rPr lang="en-US" sz="2400" dirty="0"/>
              <a:t>L-BFGS-B </a:t>
            </a:r>
            <a:r>
              <a:rPr lang="ru-RU" sz="2400" dirty="0"/>
              <a:t>и библиотеку </a:t>
            </a:r>
            <a:r>
              <a:rPr lang="en-US" sz="2400" dirty="0" err="1"/>
              <a:t>scipy</a:t>
            </a:r>
            <a:r>
              <a:rPr lang="en-US" sz="2400" dirty="0"/>
              <a:t>.</a:t>
            </a:r>
          </a:p>
          <a:p>
            <a:r>
              <a:rPr lang="ru-RU" sz="2400" dirty="0"/>
              <a:t>Дайте повторим назначение параметров функции </a:t>
            </a:r>
            <a:r>
              <a:rPr lang="en-US" sz="2400" dirty="0"/>
              <a:t>minimize</a:t>
            </a:r>
            <a:r>
              <a:rPr lang="ru-RU" sz="2400"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877F21-D32A-47B9-9938-C01088682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07" y="3526111"/>
            <a:ext cx="3746617" cy="29672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61510C-E7BE-4273-B36B-339E3D58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840" y="3526110"/>
            <a:ext cx="6642197" cy="29672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20E9BF-3F2D-4F34-92D7-307D842921B8}"/>
              </a:ext>
            </a:extLst>
          </p:cNvPr>
          <p:cNvSpPr txBox="1"/>
          <p:nvPr/>
        </p:nvSpPr>
        <p:spPr>
          <a:xfrm>
            <a:off x="1016507" y="2909805"/>
            <a:ext cx="10719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Уточните самостоятельно, какой критерий останова использует эта функция.</a:t>
            </a:r>
          </a:p>
        </p:txBody>
      </p:sp>
    </p:spTree>
    <p:extLst>
      <p:ext uri="{BB962C8B-B14F-4D97-AF65-F5344CB8AC3E}">
        <p14:creationId xmlns:p14="http://schemas.microsoft.com/office/powerpoint/2010/main" val="185824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21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78C8D-9E60-44B9-90A6-0FADDE6AE36F}"/>
              </a:ext>
            </a:extLst>
          </p:cNvPr>
          <p:cNvSpPr txBox="1"/>
          <p:nvPr/>
        </p:nvSpPr>
        <p:spPr>
          <a:xfrm>
            <a:off x="736588" y="4151298"/>
            <a:ext cx="1078671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Два слайда далее:</a:t>
            </a:r>
          </a:p>
          <a:p>
            <a:endParaRPr lang="ru-RU" sz="2200" dirty="0"/>
          </a:p>
          <a:p>
            <a:r>
              <a:rPr lang="ru-RU" sz="2200" dirty="0"/>
              <a:t>В общем случае полезно не только отслеживать сходимость к нулю </a:t>
            </a:r>
            <a:r>
              <a:rPr lang="en-US" sz="2200" dirty="0"/>
              <a:t>Loss </a:t>
            </a:r>
            <a:r>
              <a:rPr lang="ru-RU" sz="2200" dirty="0"/>
              <a:t>на обучении, но ещё посмотреть невязку для каждого объекта или вычислить другие метрики (критерии качества, которые не учитывались при обучении)!</a:t>
            </a:r>
          </a:p>
          <a:p>
            <a:endParaRPr lang="ru-RU" sz="2200" dirty="0"/>
          </a:p>
          <a:p>
            <a:r>
              <a:rPr lang="ru-RU" sz="2200" dirty="0"/>
              <a:t>И наконец финальная визуализация для найденной модели!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B33E2C-23EF-4F6E-BFE3-2DE71D36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2" y="2294868"/>
            <a:ext cx="8127081" cy="18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6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22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368D00-FD35-4932-8DC4-6358DA8D4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36" y="2334175"/>
            <a:ext cx="9450119" cy="422016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5C3400-43EC-48A2-8109-7B4A0F79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651" y="4309259"/>
            <a:ext cx="6058746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78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23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ru-RU" sz="3200" b="1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Гауссиана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49ED6-BB55-4007-9BD2-D78E6C305E58}"/>
              </a:ext>
            </a:extLst>
          </p:cNvPr>
          <p:cNvSpPr txBox="1"/>
          <p:nvPr/>
        </p:nvSpPr>
        <p:spPr>
          <a:xfrm>
            <a:off x="736588" y="1554044"/>
            <a:ext cx="1111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5. Реализация решения выбранным методом. Контроль качества итоговой модели.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41076" y="1903288"/>
            <a:ext cx="11202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Воспользуйтесь генеративными сервисами для получения полного кода решения задачи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A66C46-4F08-4893-9518-CFBDE3C46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591" y="2298890"/>
            <a:ext cx="9385868" cy="437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57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24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84150" y="484264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функции двух переменных</a:t>
            </a: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Часть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III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 Константа и линейная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421177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25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202107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Простые модели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8C53C-1531-48B4-8F87-085CC0DA604E}"/>
              </a:ext>
            </a:extLst>
          </p:cNvPr>
          <p:cNvSpPr txBox="1"/>
          <p:nvPr/>
        </p:nvSpPr>
        <p:spPr>
          <a:xfrm>
            <a:off x="736588" y="1667756"/>
            <a:ext cx="1061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err="1"/>
              <a:t>Датасет</a:t>
            </a:r>
            <a:r>
              <a:rPr lang="ru-RU" sz="2200" dirty="0"/>
              <a:t> оказался специфическим, мы легко смогли его визуализировать выбрать  наиболее подходящие классы функций для моделирования признака </a:t>
            </a:r>
            <a:r>
              <a:rPr lang="en-US" sz="2200" i="1" dirty="0"/>
              <a:t>z</a:t>
            </a:r>
            <a:r>
              <a:rPr lang="ru-RU" sz="2200" dirty="0"/>
              <a:t>. </a:t>
            </a:r>
          </a:p>
          <a:p>
            <a:r>
              <a:rPr lang="ru-RU" sz="2200" dirty="0"/>
              <a:t>Перед решением задачи в общем случае найдём аппроксимации в двух простых классах функций: констант и линейных моделей.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C1CB6-166F-45EE-B391-FA8120195C52}"/>
              </a:ext>
            </a:extLst>
          </p:cNvPr>
          <p:cNvSpPr txBox="1"/>
          <p:nvPr/>
        </p:nvSpPr>
        <p:spPr>
          <a:xfrm>
            <a:off x="736587" y="3244334"/>
            <a:ext cx="10991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Лучшая константная модель в смысле </a:t>
            </a:r>
            <a:r>
              <a:rPr lang="ru-RU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мин.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MSE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: среднее выборочное выборки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{z</a:t>
            </a:r>
            <a:r>
              <a:rPr lang="en-US" sz="1800" b="1" baseline="30000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}</a:t>
            </a:r>
            <a:r>
              <a:rPr lang="en-US" sz="1800" b="1" baseline="-25000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,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z = (0+0+1+1+5)</a:t>
            </a:r>
            <a:r>
              <a:rPr lang="ru-RU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/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5 = 1.4</a:t>
            </a:r>
            <a:r>
              <a:rPr lang="ru-RU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F4DDE-AA95-4617-B23C-C87AC75081A7}"/>
              </a:ext>
            </a:extLst>
          </p:cNvPr>
          <p:cNvSpPr txBox="1"/>
          <p:nvPr/>
        </p:nvSpPr>
        <p:spPr>
          <a:xfrm>
            <a:off x="736586" y="3692164"/>
            <a:ext cx="10478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Лучшая константная модель в смысле мин.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MAE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: </a:t>
            </a:r>
            <a:r>
              <a:rPr lang="ru-RU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медиана выборки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{z</a:t>
            </a:r>
            <a:r>
              <a:rPr lang="en-US" sz="1800" b="1" baseline="30000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}</a:t>
            </a:r>
            <a:r>
              <a:rPr lang="en-US" sz="1800" b="1" baseline="-25000" dirty="0" err="1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,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z = </a:t>
            </a:r>
            <a:r>
              <a:rPr lang="en-US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median({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0,0,1,1,5}) = 1.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35C39-EA06-459C-AFD5-F9D76054D7BF}"/>
              </a:ext>
            </a:extLst>
          </p:cNvPr>
          <p:cNvSpPr txBox="1"/>
          <p:nvPr/>
        </p:nvSpPr>
        <p:spPr>
          <a:xfrm>
            <a:off x="736585" y="4165611"/>
            <a:ext cx="10478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Лучшая </a:t>
            </a:r>
            <a:r>
              <a:rPr lang="ru-RU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линейная модель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 в смысле мин.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M</a:t>
            </a:r>
            <a:r>
              <a:rPr lang="en-US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S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E+L2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: используйте </a:t>
            </a:r>
            <a:r>
              <a:rPr lang="en-US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sklearn.linear_model.Ridge</a:t>
            </a:r>
            <a:r>
              <a:rPr lang="ru-RU" sz="18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2541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26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1084150" y="484264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Аппроксимация функции двух переменных</a:t>
            </a: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  <a:p>
            <a:pPr algn="ctr"/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Часть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IV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.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</a:t>
            </a:r>
          </a:p>
        </p:txBody>
      </p:sp>
    </p:spTree>
    <p:extLst>
      <p:ext uri="{BB962C8B-B14F-4D97-AF65-F5344CB8AC3E}">
        <p14:creationId xmlns:p14="http://schemas.microsoft.com/office/powerpoint/2010/main" val="1007081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27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Поиск оптимальной в выбранном классе функций 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(параметрическая идентификация модели). 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34B1D-CC07-4607-8043-B47215E165DC}"/>
              </a:ext>
            </a:extLst>
          </p:cNvPr>
          <p:cNvSpPr txBox="1"/>
          <p:nvPr/>
        </p:nvSpPr>
        <p:spPr>
          <a:xfrm>
            <a:off x="736589" y="1644736"/>
            <a:ext cx="10366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Как задать </a:t>
            </a:r>
            <a:r>
              <a:rPr lang="en-US" sz="2400" dirty="0"/>
              <a:t>RBF-</a:t>
            </a:r>
            <a:r>
              <a:rPr lang="ru-RU" sz="2400" dirty="0"/>
              <a:t>сеть?</a:t>
            </a:r>
          </a:p>
          <a:p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1964353"/>
            <a:ext cx="11230561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«Сеть с нейронами, для которых задана функция активации из класса радиально-базисных функций».</a:t>
            </a:r>
          </a:p>
          <a:p>
            <a:endParaRPr lang="ru-RU" sz="500" dirty="0"/>
          </a:p>
          <a:p>
            <a:r>
              <a:rPr lang="ru-RU" sz="2400" dirty="0"/>
              <a:t>Рассмотрим одну из архитектур нейронных сетей, которая может называться «универсальным </a:t>
            </a:r>
            <a:r>
              <a:rPr lang="ru-RU" sz="2400" dirty="0" err="1"/>
              <a:t>аппроксиматором</a:t>
            </a:r>
            <a:r>
              <a:rPr lang="ru-RU" sz="2400" dirty="0"/>
              <a:t>». Здесь мы никак не будем использовать особенности данных (см. предыдущие модели), потому качество результата при малом количестве итераций будет оставлять желать лучшего. Однако это общий подход!</a:t>
            </a:r>
          </a:p>
          <a:p>
            <a:endParaRPr lang="ru-RU" sz="2400" dirty="0"/>
          </a:p>
          <a:p>
            <a:r>
              <a:rPr lang="en-US" sz="2400" dirty="0"/>
              <a:t>RBF-</a:t>
            </a:r>
            <a:r>
              <a:rPr lang="ru-RU" sz="2400" dirty="0"/>
              <a:t>сеть – интересный инструмент для аппроксимации: на его примере посмотрим сочетание обучений «без учителя» и «с учителем».</a:t>
            </a:r>
          </a:p>
        </p:txBody>
      </p:sp>
    </p:spTree>
    <p:extLst>
      <p:ext uri="{BB962C8B-B14F-4D97-AF65-F5344CB8AC3E}">
        <p14:creationId xmlns:p14="http://schemas.microsoft.com/office/powerpoint/2010/main" val="1922336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28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задать? РБФ – радиально-базисная функция</a:t>
            </a:r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 </a:t>
            </a:r>
            <a:endParaRPr lang="ru-RU" sz="32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2400732"/>
            <a:ext cx="11230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Так как данных мало, будем использовать сеть с двумя </a:t>
            </a:r>
          </a:p>
          <a:p>
            <a:r>
              <a:rPr lang="ru-RU" sz="2400" dirty="0"/>
              <a:t>«скрытыми нейронами» (двумя слагаемыми РБФ):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EF9A2-F709-4C01-9C28-05570EE5A912}"/>
              </a:ext>
            </a:extLst>
          </p:cNvPr>
          <p:cNvSpPr txBox="1"/>
          <p:nvPr/>
        </p:nvSpPr>
        <p:spPr>
          <a:xfrm>
            <a:off x="736589" y="6064840"/>
            <a:ext cx="11230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Параметры такой </a:t>
            </a:r>
            <a:r>
              <a:rPr lang="en-US" sz="2400" dirty="0"/>
              <a:t>RBF-</a:t>
            </a:r>
            <a:r>
              <a:rPr lang="ru-RU" sz="2400" dirty="0"/>
              <a:t>сети иногда называют для краткости </a:t>
            </a:r>
            <a:r>
              <a:rPr lang="en-US" sz="2400" b="1" i="1" dirty="0"/>
              <a:t>centers</a:t>
            </a:r>
            <a:r>
              <a:rPr lang="en-US" sz="2400" dirty="0"/>
              <a:t>, </a:t>
            </a:r>
            <a:r>
              <a:rPr lang="en-US" sz="2400" b="1" i="1" dirty="0"/>
              <a:t>widths</a:t>
            </a:r>
            <a:r>
              <a:rPr lang="en-US" sz="2400" dirty="0"/>
              <a:t>, </a:t>
            </a:r>
            <a:r>
              <a:rPr lang="en-US" sz="2400" b="1" i="1" dirty="0"/>
              <a:t>weights</a:t>
            </a:r>
            <a:r>
              <a:rPr lang="en-US" sz="2400" dirty="0"/>
              <a:t>.</a:t>
            </a:r>
            <a:r>
              <a:rPr lang="ru-RU" sz="2400" dirty="0"/>
              <a:t>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28A78C1-BA89-48C9-950C-BD9E6D1C4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2" y="3231729"/>
            <a:ext cx="6630325" cy="2829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27CE3B-B0C4-44A3-88E3-577BB1058F67}"/>
              </a:ext>
            </a:extLst>
          </p:cNvPr>
          <p:cNvSpPr txBox="1"/>
          <p:nvPr/>
        </p:nvSpPr>
        <p:spPr>
          <a:xfrm>
            <a:off x="736589" y="1150700"/>
            <a:ext cx="11645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Эта модель представляется в виде графа, вершины которого группируются в </a:t>
            </a:r>
          </a:p>
          <a:p>
            <a:r>
              <a:rPr lang="ru-RU" sz="2400" dirty="0"/>
              <a:t>3 «слоя»: входной, скрытый (слой базисных функций), выходной. </a:t>
            </a:r>
          </a:p>
          <a:p>
            <a:r>
              <a:rPr lang="ru-RU" sz="2400" dirty="0"/>
              <a:t>Входных нейронов будет два – моделируем функцию двух переменных </a:t>
            </a:r>
            <a:r>
              <a:rPr lang="en-US" sz="2400" i="1" dirty="0"/>
              <a:t>z</a:t>
            </a:r>
            <a:r>
              <a:rPr lang="en-US" sz="2400" dirty="0"/>
              <a:t>=</a:t>
            </a:r>
            <a:r>
              <a:rPr lang="en-US" sz="2400" i="1" dirty="0"/>
              <a:t>z</a:t>
            </a:r>
            <a:r>
              <a:rPr lang="en-US" sz="2400" dirty="0"/>
              <a:t>(</a:t>
            </a:r>
            <a:r>
              <a:rPr lang="en-US" sz="2400" i="1" dirty="0" err="1"/>
              <a:t>x</a:t>
            </a:r>
            <a:r>
              <a:rPr lang="en-US" sz="2400" dirty="0" err="1"/>
              <a:t>,</a:t>
            </a:r>
            <a:r>
              <a:rPr lang="en-US" sz="2400" i="1" dirty="0" err="1"/>
              <a:t>y</a:t>
            </a:r>
            <a:r>
              <a:rPr lang="en-US" sz="2400" dirty="0"/>
              <a:t>)</a:t>
            </a:r>
            <a:r>
              <a:rPr lang="ru-RU" sz="2400" dirty="0"/>
              <a:t>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FC84A5-E9D7-4D21-A050-BB1A73862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82" y="2403988"/>
            <a:ext cx="3578999" cy="286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34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29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90" y="2744272"/>
            <a:ext cx="106173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Стратегия 1: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без учителя для поиска центров и параметров ширины (всё это параметры «скрытого слоя») – метод К-средних (</a:t>
            </a:r>
            <a:r>
              <a:rPr lang="en-US" sz="2400" dirty="0"/>
              <a:t>K-Means</a:t>
            </a:r>
            <a:r>
              <a:rPr lang="ru-RU" sz="2400" dirty="0"/>
              <a:t>),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с учителем для «выходного слоя», то есть поиска коэффициентов линейной комбинации (</a:t>
            </a:r>
            <a:r>
              <a:rPr lang="en-US" sz="2400" i="1" dirty="0"/>
              <a:t>w</a:t>
            </a:r>
            <a:r>
              <a:rPr lang="en-US" sz="2400" baseline="-25000" dirty="0"/>
              <a:t>0</a:t>
            </a:r>
            <a:r>
              <a:rPr lang="en-US" sz="2400" dirty="0"/>
              <a:t>, </a:t>
            </a:r>
            <a:r>
              <a:rPr lang="en-US" sz="2400" i="1" dirty="0"/>
              <a:t>w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w</a:t>
            </a:r>
            <a:r>
              <a:rPr lang="en-US" sz="2400" baseline="-25000" dirty="0"/>
              <a:t>2</a:t>
            </a:r>
            <a:r>
              <a:rPr lang="ru-RU" sz="2400" dirty="0"/>
              <a:t>)</a:t>
            </a:r>
            <a:r>
              <a:rPr lang="en-US" sz="2400" dirty="0"/>
              <a:t> – </a:t>
            </a:r>
            <a:r>
              <a:rPr lang="ru-RU" sz="2400" dirty="0"/>
              <a:t>имеем обобщенную линейную регрессию, можно применить метод наименьших квадратов (</a:t>
            </a:r>
            <a:r>
              <a:rPr lang="ru-RU" sz="2400" i="1" dirty="0"/>
              <a:t>МНК, </a:t>
            </a:r>
            <a:r>
              <a:rPr lang="en-US" sz="2400" i="1" dirty="0"/>
              <a:t>OLS</a:t>
            </a:r>
            <a:r>
              <a:rPr lang="ru-RU" sz="2400" i="1" dirty="0"/>
              <a:t>, </a:t>
            </a:r>
            <a:r>
              <a:rPr lang="en-US" sz="2400" i="1" dirty="0"/>
              <a:t>Ordinary Least Squares</a:t>
            </a:r>
            <a:r>
              <a:rPr lang="ru-RU" sz="2400" dirty="0"/>
              <a:t>), например, в виде </a:t>
            </a:r>
            <a:r>
              <a:rPr lang="en-US" sz="2400" dirty="0" err="1"/>
              <a:t>numpy.linalg.lstsq</a:t>
            </a:r>
            <a:r>
              <a:rPr lang="ru-RU" sz="2400" dirty="0"/>
              <a:t>() – известно, что </a:t>
            </a:r>
            <a:r>
              <a:rPr lang="en-US" sz="2400" dirty="0"/>
              <a:t>sklearn.linear_model.LinearRegression</a:t>
            </a:r>
            <a:r>
              <a:rPr lang="ru-RU" sz="2400" dirty="0"/>
              <a:t> выступает оберткой для этой функции.</a:t>
            </a:r>
          </a:p>
          <a:p>
            <a:pPr marL="457200" indent="-457200">
              <a:buAutoNum type="arabicParenR"/>
            </a:pPr>
            <a:endParaRPr lang="ru-RU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84E3C4-8E3B-4D97-82EA-7265D3CED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881" b="35361"/>
          <a:stretch/>
        </p:blipFill>
        <p:spPr>
          <a:xfrm>
            <a:off x="1175127" y="1514570"/>
            <a:ext cx="6447983" cy="10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13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30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2283581"/>
            <a:ext cx="1123056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Стратегия 2: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без учителя только для инициализации центров – метод К-средних (</a:t>
            </a:r>
            <a:r>
              <a:rPr lang="en-US" sz="2400" dirty="0"/>
              <a:t>K-Means</a:t>
            </a:r>
            <a:r>
              <a:rPr lang="ru-RU" sz="2400" dirty="0"/>
              <a:t>),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с учителем для обновления ВСЕХ параметров; можно применить </a:t>
            </a:r>
            <a:r>
              <a:rPr lang="en-US" sz="2400" dirty="0"/>
              <a:t>MSE </a:t>
            </a:r>
            <a:r>
              <a:rPr lang="ru-RU" sz="2400" dirty="0"/>
              <a:t>как </a:t>
            </a:r>
            <a:r>
              <a:rPr lang="en-US" sz="2400" dirty="0"/>
              <a:t>Loss</a:t>
            </a:r>
            <a:r>
              <a:rPr lang="ru-RU" sz="2400" dirty="0"/>
              <a:t> и градиентный спуск как оптимизатор.</a:t>
            </a:r>
            <a:endParaRPr lang="en-US" sz="2400" dirty="0"/>
          </a:p>
          <a:p>
            <a:pPr marL="457200" indent="-457200">
              <a:buAutoNum type="arabicParenR"/>
            </a:pPr>
            <a:endParaRPr lang="en-US" sz="1000" dirty="0"/>
          </a:p>
          <a:p>
            <a:r>
              <a:rPr lang="ru-RU" sz="2400" b="1" i="1" dirty="0"/>
              <a:t>Варианта </a:t>
            </a:r>
            <a:r>
              <a:rPr lang="ru-RU" sz="2400" b="1" i="1" dirty="0" err="1"/>
              <a:t>промпта</a:t>
            </a:r>
            <a:r>
              <a:rPr lang="ru-RU" sz="2400" b="1" i="1" dirty="0"/>
              <a:t> для генерации решения:</a:t>
            </a:r>
          </a:p>
          <a:p>
            <a:r>
              <a:rPr lang="en-US" sz="2400" dirty="0"/>
              <a:t>Create class to train </a:t>
            </a:r>
            <a:r>
              <a:rPr lang="en-US" sz="2400" dirty="0" err="1"/>
              <a:t>rbf</a:t>
            </a:r>
            <a:r>
              <a:rPr lang="en-US" sz="2400" dirty="0"/>
              <a:t> neural network with supervised and unsupervised learning, </a:t>
            </a:r>
            <a:r>
              <a:rPr lang="en-US" sz="2400" dirty="0" err="1"/>
              <a:t>KMeans</a:t>
            </a:r>
            <a:r>
              <a:rPr lang="en-US" sz="2400" dirty="0"/>
              <a:t> from scratch without </a:t>
            </a:r>
            <a:r>
              <a:rPr lang="en-US" sz="2400" dirty="0" err="1"/>
              <a:t>sklearn</a:t>
            </a:r>
            <a:r>
              <a:rPr lang="en-US" sz="2400" dirty="0"/>
              <a:t> to initialize centers. Gradient descent to optimize all parameters, use </a:t>
            </a:r>
            <a:r>
              <a:rPr lang="en-US" sz="2400" dirty="0" err="1"/>
              <a:t>numpy</a:t>
            </a:r>
            <a:r>
              <a:rPr lang="en-US" sz="2400" dirty="0"/>
              <a:t> only. Create dataset of 5 samples and 2 features and one target to be modelled with this class of </a:t>
            </a:r>
            <a:r>
              <a:rPr lang="en-US" sz="2400" dirty="0" err="1"/>
              <a:t>rbf</a:t>
            </a:r>
            <a:r>
              <a:rPr lang="en-US" sz="2400" dirty="0"/>
              <a:t> neural network. Make detailed records of calculations of training process. </a:t>
            </a:r>
            <a:r>
              <a:rPr lang="ru-RU" sz="2400" dirty="0"/>
              <a:t>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84E3C4-8E3B-4D97-82EA-7265D3CED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881" b="35361"/>
          <a:stretch/>
        </p:blipFill>
        <p:spPr>
          <a:xfrm>
            <a:off x="1156466" y="1181840"/>
            <a:ext cx="6447983" cy="10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8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31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2411542"/>
            <a:ext cx="112305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Стратегия 3 (на самостоятельное изучение):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без учителя только для инициализации центров – метод К-средних (</a:t>
            </a:r>
            <a:r>
              <a:rPr lang="en-US" sz="2400" dirty="0"/>
              <a:t>K-Means</a:t>
            </a:r>
            <a:r>
              <a:rPr lang="ru-RU" sz="2400" dirty="0"/>
              <a:t>),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с учителем для обновления ВСЕХ параметров; можно применить </a:t>
            </a:r>
            <a:r>
              <a:rPr lang="en-US" sz="2400" dirty="0"/>
              <a:t>MSE </a:t>
            </a:r>
            <a:r>
              <a:rPr lang="ru-RU" sz="2400" dirty="0"/>
              <a:t>как </a:t>
            </a:r>
            <a:r>
              <a:rPr lang="en-US" sz="2400" dirty="0"/>
              <a:t>Loss</a:t>
            </a:r>
            <a:r>
              <a:rPr lang="ru-RU" sz="2400" dirty="0"/>
              <a:t> и градиентный спуск как оптимизатор. </a:t>
            </a:r>
          </a:p>
          <a:p>
            <a:pPr marL="457200" indent="-457200">
              <a:buAutoNum type="arabicParenR"/>
            </a:pPr>
            <a:r>
              <a:rPr lang="ru-RU" sz="2400" dirty="0" err="1"/>
              <a:t>кастомизировать</a:t>
            </a:r>
            <a:r>
              <a:rPr lang="ru-RU" sz="2400" dirty="0"/>
              <a:t> градиентный спуск подбором скорости обучения с помощью байесовской оптимизации – популярный подход для определения значений </a:t>
            </a:r>
            <a:r>
              <a:rPr lang="ru-RU" sz="2400" dirty="0" err="1"/>
              <a:t>гиперпараметров</a:t>
            </a:r>
            <a:r>
              <a:rPr lang="ru-RU" sz="2400" dirty="0"/>
              <a:t> (скорость обучения – </a:t>
            </a:r>
            <a:r>
              <a:rPr lang="ru-RU" sz="2400" dirty="0" err="1"/>
              <a:t>гиперпараметр</a:t>
            </a:r>
            <a:r>
              <a:rPr lang="ru-RU" sz="2400" dirty="0"/>
              <a:t> модели спуска).</a:t>
            </a:r>
          </a:p>
          <a:p>
            <a:r>
              <a:rPr lang="ru-RU" sz="2400" dirty="0" err="1"/>
              <a:t>Гиперпараметр</a:t>
            </a:r>
            <a:r>
              <a:rPr lang="ru-RU" sz="2400" dirty="0"/>
              <a:t> модели – параметр, который не изменяется с помощью методов оптимизации (константа или обновляется по некоторым правилам, например, как функция от номера итерации).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84E3C4-8E3B-4D97-82EA-7265D3CED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881" b="35361"/>
          <a:stretch/>
        </p:blipFill>
        <p:spPr>
          <a:xfrm>
            <a:off x="1175127" y="1181840"/>
            <a:ext cx="6447983" cy="10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4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32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23DCC5-8F5E-4303-BFDE-F87783CF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3" y="1341623"/>
            <a:ext cx="9192908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19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33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Метод К-средних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47E31-2406-4B77-A6A8-6121F8CEBDEE}"/>
              </a:ext>
            </a:extLst>
          </p:cNvPr>
          <p:cNvSpPr txBox="1"/>
          <p:nvPr/>
        </p:nvSpPr>
        <p:spPr>
          <a:xfrm>
            <a:off x="736589" y="1181840"/>
            <a:ext cx="10366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0. </a:t>
            </a:r>
            <a:r>
              <a:rPr lang="en-US" sz="2400" dirty="0"/>
              <a:t>{(x</a:t>
            </a:r>
            <a:r>
              <a:rPr lang="en-US" sz="2400" baseline="30000" dirty="0"/>
              <a:t>i</a:t>
            </a:r>
            <a:r>
              <a:rPr lang="ru-RU" sz="2400" dirty="0"/>
              <a:t>,</a:t>
            </a:r>
            <a:r>
              <a:rPr lang="en-US" sz="2400" dirty="0" err="1"/>
              <a:t>y</a:t>
            </a:r>
            <a:r>
              <a:rPr lang="en-US" sz="2400" baseline="30000" dirty="0" err="1"/>
              <a:t>i</a:t>
            </a:r>
            <a:r>
              <a:rPr lang="en-US" sz="2400" dirty="0"/>
              <a:t>)}</a:t>
            </a:r>
            <a:r>
              <a:rPr lang="en-US" sz="2400" baseline="30000" dirty="0"/>
              <a:t>5</a:t>
            </a:r>
            <a:r>
              <a:rPr lang="en-US" sz="2400" baseline="-25000" dirty="0"/>
              <a:t>i=1</a:t>
            </a:r>
            <a:r>
              <a:rPr lang="ru-RU" sz="2400" dirty="0"/>
              <a:t>, центры </a:t>
            </a:r>
            <a:r>
              <a:rPr lang="ru-RU" sz="2400" i="1" dirty="0"/>
              <a:t>с</a:t>
            </a:r>
            <a:r>
              <a:rPr lang="en-US" sz="2400" i="1" baseline="-25000" dirty="0"/>
              <a:t>j</a:t>
            </a:r>
            <a:r>
              <a:rPr lang="ru-RU" sz="2400" dirty="0"/>
              <a:t> – два случайно выбранных объекта</a:t>
            </a:r>
            <a:r>
              <a:rPr lang="en-US" sz="2400" dirty="0"/>
              <a:t> </a:t>
            </a:r>
            <a:r>
              <a:rPr lang="ru-RU" sz="2400" dirty="0"/>
              <a:t>вида (</a:t>
            </a:r>
            <a:r>
              <a:rPr lang="en-US" sz="2400" dirty="0"/>
              <a:t>x</a:t>
            </a:r>
            <a:r>
              <a:rPr lang="ru-RU" sz="2400" dirty="0"/>
              <a:t>,</a:t>
            </a:r>
            <a:r>
              <a:rPr lang="en-US" sz="2400" dirty="0"/>
              <a:t> y</a:t>
            </a:r>
            <a:r>
              <a:rPr lang="ru-RU" sz="2400" dirty="0"/>
              <a:t>)</a:t>
            </a:r>
            <a:r>
              <a:rPr lang="en-US" sz="2400" dirty="0"/>
              <a:t>, j=1,2</a:t>
            </a:r>
            <a:r>
              <a:rPr lang="ru-RU" sz="2400" dirty="0"/>
              <a:t>,</a:t>
            </a:r>
            <a:endParaRPr lang="en-US" sz="2400" dirty="0"/>
          </a:p>
          <a:p>
            <a:r>
              <a:rPr lang="en-US" sz="2400" dirty="0"/>
              <a:t>     </a:t>
            </a:r>
            <a:r>
              <a:rPr lang="en-US" sz="2400" i="1" dirty="0"/>
              <a:t>it</a:t>
            </a:r>
            <a:r>
              <a:rPr lang="en-US" sz="2400" dirty="0"/>
              <a:t>=0, </a:t>
            </a:r>
            <a:r>
              <a:rPr lang="en-US" sz="2400" dirty="0" err="1"/>
              <a:t>max_iter</a:t>
            </a:r>
            <a:r>
              <a:rPr lang="en-US" sz="2400" dirty="0"/>
              <a:t> – </a:t>
            </a:r>
            <a:r>
              <a:rPr lang="ru-RU" sz="2400" dirty="0"/>
              <a:t>число итераций, </a:t>
            </a:r>
            <a:r>
              <a:rPr lang="el-GR" sz="2400" dirty="0"/>
              <a:t>ε</a:t>
            </a:r>
            <a:r>
              <a:rPr lang="ru-RU" sz="2400" dirty="0"/>
              <a:t>.</a:t>
            </a:r>
          </a:p>
          <a:p>
            <a:pPr marL="457200" indent="-457200">
              <a:buAutoNum type="arabicPeriod"/>
            </a:pPr>
            <a:r>
              <a:rPr lang="ru-RU" sz="2400" dirty="0"/>
              <a:t>Каждый объект 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i="1" baseline="30000" dirty="0"/>
              <a:t>i</a:t>
            </a:r>
            <a:r>
              <a:rPr lang="ru-RU" sz="2400" dirty="0"/>
              <a:t>,</a:t>
            </a:r>
            <a:r>
              <a:rPr lang="en-US" sz="2400" i="1" dirty="0" err="1"/>
              <a:t>y</a:t>
            </a:r>
            <a:r>
              <a:rPr lang="en-US" sz="2400" i="1" baseline="30000" dirty="0" err="1"/>
              <a:t>i</a:t>
            </a:r>
            <a:r>
              <a:rPr lang="en-US" sz="2400" dirty="0"/>
              <a:t>)</a:t>
            </a:r>
            <a:r>
              <a:rPr lang="ru-RU" sz="2400" dirty="0"/>
              <a:t> приписать к группе («кластеру»)</a:t>
            </a:r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dirty="0"/>
              <a:t> </a:t>
            </a:r>
            <a:r>
              <a:rPr lang="ru-RU" sz="2400" dirty="0"/>
              <a:t>с номером </a:t>
            </a:r>
            <a:r>
              <a:rPr lang="en-US" sz="2400" i="1" dirty="0"/>
              <a:t>t</a:t>
            </a:r>
            <a:r>
              <a:rPr lang="en-US" sz="2400" dirty="0"/>
              <a:t>, </a:t>
            </a:r>
            <a:endParaRPr lang="ru-RU" sz="2400" dirty="0"/>
          </a:p>
          <a:p>
            <a:r>
              <a:rPr lang="ru-RU" sz="2400" dirty="0"/>
              <a:t>       где </a:t>
            </a:r>
            <a:r>
              <a:rPr lang="en-US" sz="2400" i="1" dirty="0"/>
              <a:t>t</a:t>
            </a:r>
            <a:r>
              <a:rPr lang="en-US" sz="2400" dirty="0"/>
              <a:t> =1,2,</a:t>
            </a:r>
            <a:r>
              <a:rPr lang="ru-RU" sz="2400" dirty="0"/>
              <a:t> на итерации </a:t>
            </a:r>
            <a:r>
              <a:rPr lang="en-US" sz="2400" i="1" dirty="0"/>
              <a:t>it</a:t>
            </a:r>
            <a:r>
              <a:rPr lang="ru-RU" sz="2400" dirty="0"/>
              <a:t>, которая определяется её центром</a:t>
            </a:r>
            <a:r>
              <a:rPr lang="en-US" sz="2400" dirty="0"/>
              <a:t> </a:t>
            </a:r>
            <a:r>
              <a:rPr lang="en-US" sz="2400" i="1" dirty="0" err="1"/>
              <a:t>c</a:t>
            </a:r>
            <a:r>
              <a:rPr lang="en-US" sz="2400" i="1" baseline="-25000" dirty="0" err="1"/>
              <a:t>t</a:t>
            </a:r>
            <a:r>
              <a:rPr lang="ru-RU" sz="2400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46DA4-A5D6-4043-8AA6-0C0EE83E5166}"/>
              </a:ext>
            </a:extLst>
          </p:cNvPr>
          <p:cNvSpPr txBox="1"/>
          <p:nvPr/>
        </p:nvSpPr>
        <p:spPr>
          <a:xfrm>
            <a:off x="736589" y="4125067"/>
            <a:ext cx="1036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r>
              <a:rPr lang="ru-RU" sz="2400" dirty="0"/>
              <a:t>. Обновляем центры: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FEA8C-24FA-4E97-97DE-45AAC15EE028}"/>
              </a:ext>
            </a:extLst>
          </p:cNvPr>
          <p:cNvSpPr txBox="1"/>
          <p:nvPr/>
        </p:nvSpPr>
        <p:spPr>
          <a:xfrm>
            <a:off x="736588" y="5326353"/>
            <a:ext cx="10698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3. Если </a:t>
            </a:r>
            <a:r>
              <a:rPr lang="en-US" sz="2400" i="1" dirty="0"/>
              <a:t>it</a:t>
            </a:r>
            <a:r>
              <a:rPr lang="en-US" sz="2400" dirty="0"/>
              <a:t> +1 = </a:t>
            </a:r>
            <a:r>
              <a:rPr lang="en-US" sz="2400" dirty="0" err="1"/>
              <a:t>max_iter</a:t>
            </a:r>
            <a:r>
              <a:rPr lang="ru-RU" sz="2400" dirty="0"/>
              <a:t> или центры мало сместились (</a:t>
            </a:r>
            <a:r>
              <a:rPr lang="el-GR" sz="2400" dirty="0"/>
              <a:t>ε</a:t>
            </a:r>
            <a:r>
              <a:rPr lang="ru-RU" sz="2400" dirty="0"/>
              <a:t>), переход на п.4, </a:t>
            </a:r>
          </a:p>
          <a:p>
            <a:r>
              <a:rPr lang="ru-RU" sz="2400" dirty="0"/>
              <a:t>    иначе </a:t>
            </a:r>
            <a:r>
              <a:rPr lang="en-US" sz="2400" dirty="0"/>
              <a:t>it = it+1</a:t>
            </a:r>
            <a:r>
              <a:rPr lang="ru-RU" sz="2400" dirty="0"/>
              <a:t>, переход на п.1.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5CE4B2-915F-4902-A6FD-4CC50610B8F4}"/>
              </a:ext>
            </a:extLst>
          </p:cNvPr>
          <p:cNvSpPr txBox="1"/>
          <p:nvPr/>
        </p:nvSpPr>
        <p:spPr>
          <a:xfrm>
            <a:off x="736589" y="6062108"/>
            <a:ext cx="10698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4. Центры найдены (будут начальным приближением для град. спуска):  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C182A29-EE87-414F-8F69-E887CCFB9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90" y="4574253"/>
            <a:ext cx="6644840" cy="7521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BE1DFC2-0C19-4023-A3BF-D1D790D8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3469" y="6062108"/>
            <a:ext cx="1371791" cy="46679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ED09433-4C3F-49B1-B987-EC63C968E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090" y="2712969"/>
            <a:ext cx="6163785" cy="146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683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34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</a:t>
            </a:r>
            <a:r>
              <a:rPr lang="ru-RU" sz="30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Метод градиентного спуска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47E31-2406-4B77-A6A8-6121F8CEBDEE}"/>
              </a:ext>
            </a:extLst>
          </p:cNvPr>
          <p:cNvSpPr txBox="1"/>
          <p:nvPr/>
        </p:nvSpPr>
        <p:spPr>
          <a:xfrm>
            <a:off x="736589" y="1181840"/>
            <a:ext cx="1036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Некоторые частные производные </a:t>
            </a:r>
            <a:r>
              <a:rPr lang="en-US" sz="2400" dirty="0"/>
              <a:t>Loss:</a:t>
            </a:r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1D600B-D8FA-4D1B-B878-954D364C5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7" y="1711700"/>
            <a:ext cx="10820236" cy="443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58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35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</a:t>
            </a:r>
            <a:r>
              <a:rPr lang="ru-RU" sz="30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Вычисления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47E31-2406-4B77-A6A8-6121F8CEBDEE}"/>
              </a:ext>
            </a:extLst>
          </p:cNvPr>
          <p:cNvSpPr txBox="1"/>
          <p:nvPr/>
        </p:nvSpPr>
        <p:spPr>
          <a:xfrm>
            <a:off x="736589" y="1181840"/>
            <a:ext cx="1036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0. Объекты </a:t>
            </a:r>
            <a:r>
              <a:rPr lang="ru-RU" sz="2400" dirty="0" err="1"/>
              <a:t>датасета</a:t>
            </a:r>
            <a:r>
              <a:rPr lang="ru-RU" sz="2400" dirty="0"/>
              <a:t>: значения независимых признаков и целевого.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DE982D2-DEC9-47CF-A105-B416DE5113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8" b="36327"/>
          <a:stretch/>
        </p:blipFill>
        <p:spPr>
          <a:xfrm>
            <a:off x="633122" y="1682389"/>
            <a:ext cx="9062782" cy="12371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F77919-2194-448A-B797-F8E9C1671A3A}"/>
              </a:ext>
            </a:extLst>
          </p:cNvPr>
          <p:cNvSpPr txBox="1"/>
          <p:nvPr/>
        </p:nvSpPr>
        <p:spPr>
          <a:xfrm>
            <a:off x="736589" y="2937671"/>
            <a:ext cx="10366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Выполним итерации поиска центров РБФ (метод К-средних).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2CB7B1-3AC8-4D53-994B-2EA368A19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22" y="3417425"/>
            <a:ext cx="11328723" cy="152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84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36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</a:t>
            </a:r>
            <a:r>
              <a:rPr lang="ru-RU" sz="30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Вычисления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47C3C-AC61-4416-858E-8C3C34E32137}"/>
              </a:ext>
            </a:extLst>
          </p:cNvPr>
          <p:cNvSpPr txBox="1"/>
          <p:nvPr/>
        </p:nvSpPr>
        <p:spPr>
          <a:xfrm>
            <a:off x="736588" y="1554112"/>
            <a:ext cx="10366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2. Зададим начальное приближение для метода градиентного спуска, зафиксируем </a:t>
            </a:r>
            <a:r>
              <a:rPr lang="ru-RU" sz="2400" dirty="0" err="1"/>
              <a:t>гиперпараметр</a:t>
            </a:r>
            <a:r>
              <a:rPr lang="ru-RU" sz="2400" dirty="0"/>
              <a:t> скорость обучения.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E39AE58-1499-4D48-845C-4F6B3CB66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8" y="2487763"/>
            <a:ext cx="5496692" cy="18100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9F5825-76E9-480D-99FD-39E1AFE8F9F2}"/>
              </a:ext>
            </a:extLst>
          </p:cNvPr>
          <p:cNvSpPr txBox="1"/>
          <p:nvPr/>
        </p:nvSpPr>
        <p:spPr>
          <a:xfrm>
            <a:off x="5193087" y="3190498"/>
            <a:ext cx="683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– равны, половина расстояния между центрами;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59FD4E-8DEC-4070-93AE-6C3EC8B0B950}"/>
              </a:ext>
            </a:extLst>
          </p:cNvPr>
          <p:cNvSpPr txBox="1"/>
          <p:nvPr/>
        </p:nvSpPr>
        <p:spPr>
          <a:xfrm>
            <a:off x="6315204" y="2533932"/>
            <a:ext cx="6398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– получены в п.1;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C5133-1306-46EE-B38C-0DBDBFFF4E6F}"/>
              </a:ext>
            </a:extLst>
          </p:cNvPr>
          <p:cNvSpPr txBox="1"/>
          <p:nvPr/>
        </p:nvSpPr>
        <p:spPr>
          <a:xfrm>
            <a:off x="5193087" y="3829868"/>
            <a:ext cx="692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– случайные малые значения, можно сэмплить из стандартного нормального распределения *0.1;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8A8CB67-69CC-4E62-81A4-D77DBE256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07" y="4808074"/>
            <a:ext cx="2448267" cy="4191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73CD8B-2370-4281-8633-1B8E565C30FA}"/>
              </a:ext>
            </a:extLst>
          </p:cNvPr>
          <p:cNvSpPr txBox="1"/>
          <p:nvPr/>
        </p:nvSpPr>
        <p:spPr>
          <a:xfrm>
            <a:off x="3358066" y="4786820"/>
            <a:ext cx="6927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– любое понравившееся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3867230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37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</a:t>
            </a:r>
            <a:r>
              <a:rPr lang="ru-RU" sz="30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Вычисления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47E31-2406-4B77-A6A8-6121F8CEBDEE}"/>
              </a:ext>
            </a:extLst>
          </p:cNvPr>
          <p:cNvSpPr txBox="1"/>
          <p:nvPr/>
        </p:nvSpPr>
        <p:spPr>
          <a:xfrm>
            <a:off x="736589" y="1181840"/>
            <a:ext cx="10366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3. Итерационный процесс градиентного спуска: вычисляем модельный выход для каждого объекта, функцию ошибки, её частные производные и т.д.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C19CC6-4C11-4102-B69C-E7F0E4711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54" y="2116975"/>
            <a:ext cx="8487584" cy="18112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081541-037D-4A53-9208-08E04AE92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54" y="4397005"/>
            <a:ext cx="10762760" cy="122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8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38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Итоговая модель</a:t>
            </a:r>
            <a:endParaRPr lang="ru-RU" sz="30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38E38A-73B8-4019-84ED-1E1BB71E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762" y="3177617"/>
            <a:ext cx="4277322" cy="301984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C7F7EC-F988-456B-AAD5-72EA99BE8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79" y="1283857"/>
            <a:ext cx="10796873" cy="17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69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39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8" y="534740"/>
            <a:ext cx="1145541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2. Визуализация модели</a:t>
            </a:r>
            <a:endParaRPr lang="ru-RU" sz="3000" b="1" dirty="0">
              <a:solidFill>
                <a:srgbClr val="2B373C"/>
              </a:solidFill>
              <a:latin typeface="Rubik Mono One"/>
              <a:ea typeface="Rubik Mono One"/>
              <a:cs typeface="Rubik Mono One"/>
              <a:sym typeface="Rubik Mono One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B65B5A-EDA7-4CB8-AE97-102A1126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41" y="1419703"/>
            <a:ext cx="10769705" cy="483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1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40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en-US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RBF-</a:t>
            </a:r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сеть: как обучать? Стратегия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1181840"/>
            <a:ext cx="112305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Стратегия 3 (на самостоятельное изучение):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без учителя только для инициализации центров – метод К-средних (</a:t>
            </a:r>
            <a:r>
              <a:rPr lang="en-US" sz="2400" dirty="0"/>
              <a:t>K-Means</a:t>
            </a:r>
            <a:r>
              <a:rPr lang="ru-RU" sz="2400" dirty="0"/>
              <a:t>),</a:t>
            </a:r>
          </a:p>
          <a:p>
            <a:pPr marL="457200" indent="-457200">
              <a:buAutoNum type="arabicParenR"/>
            </a:pPr>
            <a:r>
              <a:rPr lang="ru-RU" sz="2400" dirty="0"/>
              <a:t>использовать обучение с учителем для обновления ВСЕХ параметров; можно применить </a:t>
            </a:r>
            <a:r>
              <a:rPr lang="en-US" sz="2400" dirty="0"/>
              <a:t>MSE </a:t>
            </a:r>
            <a:r>
              <a:rPr lang="ru-RU" sz="2400" dirty="0"/>
              <a:t>как </a:t>
            </a:r>
            <a:r>
              <a:rPr lang="en-US" sz="2400" dirty="0"/>
              <a:t>Loss</a:t>
            </a:r>
            <a:r>
              <a:rPr lang="ru-RU" sz="2400" dirty="0"/>
              <a:t> и градиентный спуск как оптимизатор. </a:t>
            </a:r>
          </a:p>
          <a:p>
            <a:pPr marL="457200" indent="-457200">
              <a:buAutoNum type="arabicParenR"/>
            </a:pPr>
            <a:r>
              <a:rPr lang="ru-RU" sz="2400" dirty="0" err="1"/>
              <a:t>кастомизировать</a:t>
            </a:r>
            <a:r>
              <a:rPr lang="ru-RU" sz="2400" dirty="0"/>
              <a:t> градиентный спуск подбором скорости обучения (</a:t>
            </a:r>
            <a:r>
              <a:rPr lang="ru-RU" sz="2400" dirty="0" err="1"/>
              <a:t>гиперпараметр</a:t>
            </a:r>
            <a:r>
              <a:rPr lang="ru-RU" sz="2400" dirty="0"/>
              <a:t> модели спуска) с помощью байесовской оптимизации.</a:t>
            </a:r>
          </a:p>
          <a:p>
            <a:pPr marL="457200" indent="-457200">
              <a:buAutoNum type="arabicParenR"/>
            </a:pPr>
            <a:endParaRPr lang="ru-RU" sz="2400" dirty="0"/>
          </a:p>
          <a:p>
            <a:r>
              <a:rPr lang="ru-RU" sz="2400" b="1" i="1" dirty="0"/>
              <a:t>Вариант </a:t>
            </a:r>
            <a:r>
              <a:rPr lang="ru-RU" sz="2400" b="1" i="1" dirty="0" err="1"/>
              <a:t>промпта</a:t>
            </a:r>
            <a:r>
              <a:rPr lang="ru-RU" sz="2400" b="1" i="1" dirty="0"/>
              <a:t> для генерации решения:</a:t>
            </a:r>
          </a:p>
          <a:p>
            <a:r>
              <a:rPr lang="en-US" sz="2400" dirty="0"/>
              <a:t>Create class to train </a:t>
            </a:r>
            <a:r>
              <a:rPr lang="en-US" sz="2400" dirty="0" err="1"/>
              <a:t>rbf</a:t>
            </a:r>
            <a:r>
              <a:rPr lang="en-US" sz="2400" dirty="0"/>
              <a:t> neural network with supervised and unsupervised learning, </a:t>
            </a:r>
            <a:r>
              <a:rPr lang="en-US" sz="2400" dirty="0" err="1"/>
              <a:t>KMeans</a:t>
            </a:r>
            <a:r>
              <a:rPr lang="en-US" sz="2400" dirty="0"/>
              <a:t> from scratch without </a:t>
            </a:r>
            <a:r>
              <a:rPr lang="en-US" sz="2400" dirty="0" err="1"/>
              <a:t>sklearn</a:t>
            </a:r>
            <a:r>
              <a:rPr lang="en-US" sz="2400" dirty="0"/>
              <a:t> to initialize centers. With learning rate managed by </a:t>
            </a:r>
            <a:r>
              <a:rPr lang="en-US" sz="2400" dirty="0" err="1"/>
              <a:t>bayesian</a:t>
            </a:r>
            <a:r>
              <a:rPr lang="en-US" sz="2400" dirty="0"/>
              <a:t> optimization, use gradient descent to optimize all parameters, </a:t>
            </a:r>
            <a:r>
              <a:rPr lang="en-US" sz="2400" dirty="0" err="1"/>
              <a:t>numpy</a:t>
            </a:r>
            <a:r>
              <a:rPr lang="en-US" sz="2400" dirty="0"/>
              <a:t> only. Create dataset of 5 samples, and 2 features, and one target to be modelled with this class of </a:t>
            </a:r>
            <a:r>
              <a:rPr lang="en-US" sz="2400" dirty="0" err="1"/>
              <a:t>rbf</a:t>
            </a:r>
            <a:r>
              <a:rPr lang="en-US" sz="2400" dirty="0"/>
              <a:t> neural network. Make detailed records of calculations of training process. 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25736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41</a:t>
            </a:fld>
            <a:endParaRPr lang="ru-RU"/>
          </a:p>
        </p:txBody>
      </p:sp>
      <p:sp>
        <p:nvSpPr>
          <p:cNvPr id="9" name="Google Shape;77;p16">
            <a:extLst>
              <a:ext uri="{FF2B5EF4-FFF2-40B4-BE49-F238E27FC236}">
                <a16:creationId xmlns:a16="http://schemas.microsoft.com/office/drawing/2014/main" id="{8B9A3232-D883-40BB-A41B-7774A428E94E}"/>
              </a:ext>
            </a:extLst>
          </p:cNvPr>
          <p:cNvSpPr txBox="1">
            <a:spLocks/>
          </p:cNvSpPr>
          <p:nvPr/>
        </p:nvSpPr>
        <p:spPr>
          <a:xfrm>
            <a:off x="736589" y="534740"/>
            <a:ext cx="10998992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Общий итог моделирования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B1C18-0004-4811-9FEB-C628C9FD1463}"/>
              </a:ext>
            </a:extLst>
          </p:cNvPr>
          <p:cNvSpPr txBox="1"/>
          <p:nvPr/>
        </p:nvSpPr>
        <p:spPr>
          <a:xfrm>
            <a:off x="736589" y="1230343"/>
            <a:ext cx="112305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Модели из классов эллиптического параболоида и двумерной </a:t>
            </a:r>
            <a:r>
              <a:rPr lang="ru-RU" sz="2400" dirty="0" err="1"/>
              <a:t>гауссианы</a:t>
            </a:r>
            <a:r>
              <a:rPr lang="ru-RU" sz="2400" dirty="0"/>
              <a:t> показали примерно одинаковое качество (по </a:t>
            </a:r>
            <a:r>
              <a:rPr lang="en-US" sz="2400" dirty="0"/>
              <a:t>MSE, </a:t>
            </a:r>
            <a:r>
              <a:rPr lang="ru-RU" sz="2400" dirty="0"/>
              <a:t>невязки на каждом объекте </a:t>
            </a:r>
            <a:r>
              <a:rPr lang="en-US" sz="2400" dirty="0"/>
              <a:t>~0)</a:t>
            </a:r>
            <a:r>
              <a:rPr lang="ru-RU" sz="2400" dirty="0"/>
              <a:t>.</a:t>
            </a:r>
          </a:p>
          <a:p>
            <a:r>
              <a:rPr lang="ru-RU" sz="2400" dirty="0"/>
              <a:t>2. Эти модели использовали специфику данных (симметрия и т.д.) – это важное свойство для практики, но наши данные откровенно игрушечные.</a:t>
            </a:r>
          </a:p>
          <a:p>
            <a:r>
              <a:rPr lang="ru-RU" sz="2400" dirty="0"/>
              <a:t>3. Универсальный </a:t>
            </a:r>
            <a:r>
              <a:rPr lang="ru-RU" sz="2400" dirty="0" err="1"/>
              <a:t>аппроксиматор</a:t>
            </a:r>
            <a:r>
              <a:rPr lang="ru-RU" sz="2400" dirty="0"/>
              <a:t> из класса </a:t>
            </a:r>
            <a:r>
              <a:rPr lang="en-US" sz="2400" dirty="0"/>
              <a:t>RBF-</a:t>
            </a:r>
            <a:r>
              <a:rPr lang="ru-RU" sz="2400" dirty="0"/>
              <a:t>сетей показал хуже результат (</a:t>
            </a:r>
            <a:r>
              <a:rPr lang="en-US" sz="2400" dirty="0"/>
              <a:t>MSE</a:t>
            </a:r>
            <a:r>
              <a:rPr lang="ru-RU" sz="2400" dirty="0"/>
              <a:t> больше, невязки на объекта отделимы от нуля). Но! Есть понятные пути улучшения результата (например, использовать больше нейронов).</a:t>
            </a:r>
          </a:p>
          <a:p>
            <a:r>
              <a:rPr lang="ru-RU" sz="2400" dirty="0"/>
              <a:t>4. Для итоговых моделей можно вычислять дополнительные метрики, например: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среднюю абсолютную процентную ошибку </a:t>
            </a:r>
            <a:r>
              <a:rPr lang="en-US" sz="2400" b="1" dirty="0"/>
              <a:t>MAPE</a:t>
            </a:r>
            <a:r>
              <a:rPr lang="ru-RU" sz="2400" b="1" dirty="0"/>
              <a:t>,</a:t>
            </a:r>
            <a:r>
              <a:rPr lang="en-US" sz="2400" b="1" dirty="0"/>
              <a:t>M</a:t>
            </a:r>
            <a:r>
              <a:rPr lang="en-US" sz="2400" b="1" i="0" dirty="0">
                <a:effectLst/>
                <a:latin typeface="YS Text"/>
              </a:rPr>
              <a:t>ean Absolute Percentage Error</a:t>
            </a:r>
            <a:r>
              <a:rPr lang="ru-RU" sz="2400" b="1" i="0" dirty="0">
                <a:effectLst/>
                <a:latin typeface="YS Text"/>
              </a:rPr>
              <a:t>, по смыслу – относительная погрешность;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порог на </a:t>
            </a:r>
            <a:r>
              <a:rPr lang="en-US" sz="2400" dirty="0"/>
              <a:t>MAPE</a:t>
            </a:r>
            <a:r>
              <a:rPr lang="ru-RU" sz="2400" dirty="0"/>
              <a:t>, порог на невязку на каждом объекте;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количество операций с плавающей точкой / вычислительную сложность;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объём памяти и т.д.;</a:t>
            </a:r>
          </a:p>
          <a:p>
            <a:r>
              <a:rPr lang="ru-RU" sz="2400" dirty="0"/>
              <a:t>чтоб </a:t>
            </a:r>
            <a:r>
              <a:rPr lang="ru-RU" sz="2400" b="1" u="sng" dirty="0"/>
              <a:t>сформулировать критерий оптимальности и выбрать лучшую.</a:t>
            </a:r>
          </a:p>
        </p:txBody>
      </p:sp>
    </p:spTree>
    <p:extLst>
      <p:ext uri="{BB962C8B-B14F-4D97-AF65-F5344CB8AC3E}">
        <p14:creationId xmlns:p14="http://schemas.microsoft.com/office/powerpoint/2010/main" val="3252101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57C53-D74B-4FBA-B0D0-A872B1CF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37B085-C491-4108-9A9B-BE905F021B94}" type="slidenum">
              <a:rPr lang="ru-RU" smtClean="0"/>
              <a:t>42</a:t>
            </a:fld>
            <a:endParaRPr lang="ru-RU"/>
          </a:p>
        </p:txBody>
      </p:sp>
      <p:sp>
        <p:nvSpPr>
          <p:cNvPr id="14" name="Google Shape;77;p16">
            <a:extLst>
              <a:ext uri="{FF2B5EF4-FFF2-40B4-BE49-F238E27FC236}">
                <a16:creationId xmlns:a16="http://schemas.microsoft.com/office/drawing/2014/main" id="{11E77CE2-B962-4382-A35F-453B4AE67DC9}"/>
              </a:ext>
            </a:extLst>
          </p:cNvPr>
          <p:cNvSpPr txBox="1">
            <a:spLocks/>
          </p:cNvSpPr>
          <p:nvPr/>
        </p:nvSpPr>
        <p:spPr>
          <a:xfrm>
            <a:off x="3156138" y="984760"/>
            <a:ext cx="6905081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 Light"/>
                <a:ea typeface="Microsoft YaHei" pitchFamily="2"/>
                <a:cs typeface="Lucida Sans" pitchFamily="2"/>
              </a:defRPr>
            </a:lvl1pPr>
          </a:lstStyle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Спасибо за внимание!</a:t>
            </a:r>
          </a:p>
          <a:p>
            <a:r>
              <a:rPr lang="ru-RU" sz="3200" b="1" dirty="0">
                <a:solidFill>
                  <a:srgbClr val="2B373C"/>
                </a:solidFill>
                <a:latin typeface="Rubik Mono One"/>
                <a:ea typeface="Rubik Mono One"/>
                <a:cs typeface="Rubik Mono One"/>
                <a:sym typeface="Rubik Mono One"/>
              </a:rPr>
              <a:t>Вступайте в группу по дисциплине!</a:t>
            </a:r>
          </a:p>
        </p:txBody>
      </p:sp>
      <p:sp>
        <p:nvSpPr>
          <p:cNvPr id="15" name="Google Shape;81;p16">
            <a:extLst>
              <a:ext uri="{FF2B5EF4-FFF2-40B4-BE49-F238E27FC236}">
                <a16:creationId xmlns:a16="http://schemas.microsoft.com/office/drawing/2014/main" id="{AF9C6659-187D-4C7B-88E9-3E9A742AB23D}"/>
              </a:ext>
            </a:extLst>
          </p:cNvPr>
          <p:cNvSpPr txBox="1"/>
          <p:nvPr/>
        </p:nvSpPr>
        <p:spPr>
          <a:xfrm>
            <a:off x="730196" y="5671000"/>
            <a:ext cx="4333083" cy="724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>
                <a:solidFill>
                  <a:srgbClr val="2B373C"/>
                </a:solidFill>
                <a:latin typeface="Rubik Medium"/>
                <a:ea typeface="Rubik Medium"/>
                <a:cs typeface="Rubik Medium"/>
                <a:sym typeface="Rubik Medium"/>
              </a:rPr>
              <a:t>Запорожцев Иван Федорович</a:t>
            </a:r>
          </a:p>
          <a:p>
            <a:r>
              <a:rPr lang="en-US" dirty="0">
                <a:solidFill>
                  <a:srgbClr val="2B373C"/>
                </a:solidFill>
                <a:latin typeface="Rubik Medium"/>
                <a:ea typeface="Rubik Medium"/>
                <a:cs typeface="Rubik Medium"/>
                <a:sym typeface="Rubik Medium"/>
              </a:rPr>
              <a:t>zaporozhtsev.if.work@gmail.com</a:t>
            </a:r>
            <a:endParaRPr dirty="0">
              <a:solidFill>
                <a:srgbClr val="2B373C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52E16E-D505-4AC6-8A51-ECB38D73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170" y="2245992"/>
            <a:ext cx="3451660" cy="342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8404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ый слайд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8438</TotalTime>
  <Words>2445</Words>
  <Application>Microsoft Office PowerPoint</Application>
  <PresentationFormat>Широкоэкранный</PresentationFormat>
  <Paragraphs>351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1" baseType="lpstr">
      <vt:lpstr>Arial</vt:lpstr>
      <vt:lpstr>Calibri</vt:lpstr>
      <vt:lpstr>Calibri Light</vt:lpstr>
      <vt:lpstr>Liberation Sans</vt:lpstr>
      <vt:lpstr>Liberation Serif</vt:lpstr>
      <vt:lpstr>Rubik Medium</vt:lpstr>
      <vt:lpstr>Rubik Mono One</vt:lpstr>
      <vt:lpstr>YS Text</vt:lpstr>
      <vt:lpstr>Титульный слайд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Кафедра МФиИТ</dc:creator>
  <cp:lastModifiedBy>Иван Запорожцев</cp:lastModifiedBy>
  <cp:revision>450</cp:revision>
  <dcterms:created xsi:type="dcterms:W3CDTF">2022-02-24T08:44:10Z</dcterms:created>
  <dcterms:modified xsi:type="dcterms:W3CDTF">2026-03-09T15:35:23Z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Notes">
    <vt:r8>17</vt:r8>
  </property>
  <property fmtid="{D5CDD505-2E9C-101B-9397-08002B2CF9AE}" pid="4" name="PresentationFormat">
    <vt:lpwstr>Экран (4:3)</vt:lpwstr>
  </property>
  <property fmtid="{D5CDD505-2E9C-101B-9397-08002B2CF9AE}" pid="5" name="Slides">
    <vt:r8>19</vt:r8>
  </property>
</Properties>
</file>